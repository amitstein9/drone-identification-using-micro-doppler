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7" r:id="rId4"/>
    <p:sldId id="288" r:id="rId5"/>
    <p:sldId id="262" r:id="rId6"/>
    <p:sldId id="261" r:id="rId7"/>
    <p:sldId id="266" r:id="rId8"/>
    <p:sldId id="285" r:id="rId9"/>
    <p:sldId id="279" r:id="rId10"/>
    <p:sldId id="289" r:id="rId11"/>
    <p:sldId id="290" r:id="rId12"/>
    <p:sldId id="291" r:id="rId13"/>
    <p:sldId id="2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27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outlineViewPr>
    <p:cViewPr>
      <p:scale>
        <a:sx n="33" d="100"/>
        <a:sy n="33" d="100"/>
      </p:scale>
      <p:origin x="0" y="-206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7663B-01EE-4D27-B6B8-967932AFFB1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4E83-3A76-47C2-B23E-88D5C2E17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04E83-3A76-47C2-B23E-88D5C2E17E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3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18D1-F151-4A1A-AFA6-1FCB5125A92E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0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F67C-1AAC-41A5-BA08-7B0723E42167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C26D-52F0-48CD-A26B-03EAFD2B9DF3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BBECA-3C0A-4CD9-9812-4FBF50F0829F}" type="datetime1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F0E8-360B-4BB4-8873-CE1C24987C49}" type="datetime1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9C237-DA93-4873-9F13-2D421E4D5784}" type="datetime1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3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2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E89D-0E68-4F88-8280-A11E17E07B1E}" type="datetime1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6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0482-3831-4044-A267-EC94C1533077}" type="datetime1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2360F-72F0-40E4-9497-E500D92B1CFF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6CB8-DFD9-47B7-B7FB-CD991A84E186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8A5E2-79BB-466B-93AD-FE62946A96F1}" type="datetime1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875356"/>
            <a:ext cx="10515600" cy="51072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300" b="1" dirty="0"/>
              <a:t>Drone Identification Using Micro-Doppler</a:t>
            </a:r>
            <a:br>
              <a:rPr lang="en-US" sz="4300" dirty="0"/>
            </a:br>
            <a:endParaRPr lang="en-US" dirty="0"/>
          </a:p>
          <a:p>
            <a:pPr marL="0" indent="0" algn="ctr">
              <a:buNone/>
            </a:pPr>
            <a:r>
              <a:rPr lang="en-US" dirty="0"/>
              <a:t>Project number: </a:t>
            </a:r>
            <a:r>
              <a:rPr lang="he-IL" dirty="0"/>
              <a:t>3174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Student: Amit Stein</a:t>
            </a:r>
          </a:p>
          <a:p>
            <a:pPr marL="0" indent="0" algn="ctr">
              <a:buNone/>
            </a:pPr>
            <a:r>
              <a:rPr lang="en-US" dirty="0"/>
              <a:t>Student: Niv Avivi</a:t>
            </a:r>
          </a:p>
          <a:p>
            <a:pPr marL="0" indent="0" algn="ctr">
              <a:buNone/>
            </a:pPr>
            <a:r>
              <a:rPr lang="en-US" dirty="0"/>
              <a:t>Supervisor: Omer </a:t>
            </a:r>
            <a:r>
              <a:rPr lang="en-US" dirty="0" err="1"/>
              <a:t>Tzdiki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Project Carried Out at: Tel Aviv University – Radar Laboratory (Principal Investigator: Prof. Pavel Ginzburg)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87FF-1E76-E2CC-A6C0-56E5FB72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39DA48-62E8-012C-71B8-D330471E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776" y="365126"/>
            <a:ext cx="6410129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dirty="0">
                <a:cs typeface="+mn-cs"/>
              </a:rPr>
              <a:t>מוטיבציה – בעיית זיהוי רחפן</a:t>
            </a:r>
            <a:endParaRPr lang="en-US" dirty="0"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870485-F8EB-225A-8821-E4A443ACF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0" y="1367748"/>
            <a:ext cx="7058560" cy="4790456"/>
          </a:xfrm>
        </p:spPr>
        <p:txBody>
          <a:bodyPr>
            <a:normAutofit/>
          </a:bodyPr>
          <a:lstStyle/>
          <a:p>
            <a:pPr algn="r" rtl="1"/>
            <a:r>
              <a:rPr lang="he-IL" b="1" dirty="0"/>
              <a:t>השימוש </a:t>
            </a:r>
            <a:r>
              <a:rPr lang="he-IL" b="1" dirty="0" err="1"/>
              <a:t>ברחפנים</a:t>
            </a:r>
            <a:r>
              <a:rPr lang="he-IL" b="1" dirty="0"/>
              <a:t> הולך וגובר</a:t>
            </a:r>
            <a:r>
              <a:rPr lang="he-IL" dirty="0"/>
              <a:t> (לצורך צבאי/אזרחי)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r>
              <a:rPr lang="he-IL" b="1" dirty="0"/>
              <a:t>אתגרים בזיהוי רחפן באמצעים אופטיים/תרמיים:</a:t>
            </a:r>
          </a:p>
          <a:p>
            <a:pPr marL="514350" indent="-514350" algn="r" rtl="1">
              <a:buAutoNum type="arabicPeriod"/>
            </a:pPr>
            <a:r>
              <a:rPr lang="he-IL" dirty="0"/>
              <a:t>רגישות למזג אוויר</a:t>
            </a:r>
          </a:p>
          <a:p>
            <a:pPr marL="514350" indent="-514350" algn="r" rtl="1">
              <a:buAutoNum type="arabicPeriod"/>
            </a:pPr>
            <a:r>
              <a:rPr lang="he-IL" dirty="0"/>
              <a:t>שטח בנוי/הררי</a:t>
            </a:r>
          </a:p>
          <a:p>
            <a:pPr marL="514350" indent="-514350" algn="r" rtl="1">
              <a:buAutoNum type="arabicPeriod"/>
            </a:pPr>
            <a:r>
              <a:rPr lang="he-IL" dirty="0"/>
              <a:t>נדרש מודל עיבוד וידאו חזק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BDD4AD-29C3-C501-338B-B37A41AD09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F40E4AF-1458-DA84-31D3-BD7FCF2E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6E569-7400-E8BF-3BDA-8D97B6B9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2</a:t>
            </a:fld>
            <a:endParaRPr lang="en-US"/>
          </a:p>
        </p:txBody>
      </p:sp>
      <p:pic>
        <p:nvPicPr>
          <p:cNvPr id="2" name="תמונה 1" descr="תמונה שמכילה שמיים, מטוס, בחוץ, טיסה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BB821D8B-9E1A-7BD8-7B40-5137CFDC27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883" y="3727768"/>
            <a:ext cx="2319785" cy="2319785"/>
          </a:xfrm>
          <a:prstGeom prst="rect">
            <a:avLst/>
          </a:prstGeom>
        </p:spPr>
      </p:pic>
      <p:pic>
        <p:nvPicPr>
          <p:cNvPr id="7" name="תמונה 6" descr="תמונה שמכילה בניין, מטוס, תחבורה, טיסה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FBE06CB2-852A-B5B2-3E90-FDE758C10C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455" y="1297332"/>
            <a:ext cx="2319785" cy="231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1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50A62-9CEE-5D93-47F4-60E60A3F2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C07DB8-D822-C729-1A03-E34C2B6F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776" y="365126"/>
            <a:ext cx="6410129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dirty="0">
                <a:cs typeface="+mn-cs"/>
              </a:rPr>
              <a:t>מוטיבציה – בעיית זיהוי רחפן</a:t>
            </a:r>
            <a:endParaRPr lang="en-US" dirty="0"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C036DE-58A2-F0CD-C784-343CD802D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1400" y="1259594"/>
            <a:ext cx="7803142" cy="5096756"/>
          </a:xfrm>
        </p:spPr>
        <p:txBody>
          <a:bodyPr>
            <a:normAutofit/>
          </a:bodyPr>
          <a:lstStyle/>
          <a:p>
            <a:pPr algn="r" rtl="1"/>
            <a:r>
              <a:rPr lang="he-IL" b="1" dirty="0"/>
              <a:t>אתגרים בזיהוי רחפן באמצעות רדאר:</a:t>
            </a:r>
          </a:p>
          <a:p>
            <a:pPr marL="514350" indent="-514350" algn="r" rtl="1">
              <a:buAutoNum type="arabicPeriod"/>
            </a:pPr>
            <a:r>
              <a:rPr lang="he-IL" dirty="0" err="1"/>
              <a:t>שח"ם</a:t>
            </a:r>
            <a:r>
              <a:rPr lang="he-IL" dirty="0"/>
              <a:t> של רחפן וציפור דומים למדי</a:t>
            </a:r>
          </a:p>
          <a:p>
            <a:pPr marL="514350" indent="-514350" algn="r" rtl="1">
              <a:buFont typeface="Arial" panose="020B0604020202020204" pitchFamily="34" charset="0"/>
              <a:buAutoNum type="arabicPeriod"/>
            </a:pPr>
            <a:r>
              <a:rPr lang="he-IL" dirty="0" err="1"/>
              <a:t>שח"ם</a:t>
            </a:r>
            <a:r>
              <a:rPr lang="he-IL" dirty="0"/>
              <a:t> קטן מאוד</a:t>
            </a:r>
          </a:p>
          <a:p>
            <a:pPr marL="0" indent="0" algn="r" rtl="1">
              <a:buNone/>
            </a:pPr>
            <a:endParaRPr lang="he-IL" dirty="0"/>
          </a:p>
          <a:p>
            <a:pPr algn="r" rtl="1"/>
            <a:r>
              <a:rPr lang="he-IL" b="1" dirty="0"/>
              <a:t>פתרון:</a:t>
            </a:r>
            <a:r>
              <a:rPr lang="en-US" b="1" dirty="0"/>
              <a:t> </a:t>
            </a:r>
            <a:r>
              <a:rPr lang="he-IL" b="1" dirty="0"/>
              <a:t>שימוש בחתימת מיקרו-דופלר</a:t>
            </a:r>
          </a:p>
          <a:p>
            <a:pPr marL="0" indent="0" algn="r" rtl="1">
              <a:buNone/>
            </a:pPr>
            <a:r>
              <a:rPr lang="he-IL" dirty="0"/>
              <a:t>1. </a:t>
            </a:r>
            <a:r>
              <a:rPr lang="he-IL" u="sng" dirty="0"/>
              <a:t>רחפן וציפור נבדלים </a:t>
            </a:r>
            <a:r>
              <a:rPr lang="he-IL" dirty="0"/>
              <a:t>בחתימת מיקרו דופלר שלהן.</a:t>
            </a:r>
          </a:p>
          <a:p>
            <a:pPr marL="0" indent="0" algn="r" rtl="1">
              <a:buNone/>
            </a:pPr>
            <a:r>
              <a:rPr lang="he-IL" dirty="0"/>
              <a:t>2. </a:t>
            </a:r>
            <a:r>
              <a:rPr lang="he-IL" u="sng" dirty="0"/>
              <a:t>חתימת מיקרו דופלר נראית היטב</a:t>
            </a:r>
            <a:r>
              <a:rPr lang="he-IL" b="1" dirty="0"/>
              <a:t> </a:t>
            </a:r>
            <a:r>
              <a:rPr lang="he-IL" dirty="0"/>
              <a:t>עקב מהירות סביבות הלהבים הגבוהה.</a:t>
            </a:r>
          </a:p>
          <a:p>
            <a:pPr marL="0" indent="0" algn="r" rtl="1">
              <a:buNone/>
            </a:pPr>
            <a:r>
              <a:rPr lang="he-IL" dirty="0"/>
              <a:t>3. </a:t>
            </a:r>
            <a:r>
              <a:rPr lang="he-IL" u="sng" dirty="0"/>
              <a:t>הוספת מפזרים </a:t>
            </a:r>
            <a:r>
              <a:rPr lang="he-IL" dirty="0"/>
              <a:t>פאסיביים לכנפיים מחזקת עוד יותר את חתימת המיקרו-דופלר של </a:t>
            </a:r>
            <a:r>
              <a:rPr lang="he-IL" dirty="0" err="1"/>
              <a:t>הרחפן</a:t>
            </a:r>
            <a:r>
              <a:rPr lang="he-IL" dirty="0"/>
              <a:t>.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AE080-9FFF-66FE-3721-0A5ED29D83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FEE628-62A1-3A14-DBC7-320E76AA2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352739-273F-4728-8B1A-480EEBF683A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DF73B-A6BE-E2DC-1C6F-3F4C6EBB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7A11E8-8F25-49C3-8F7D-865FECFDFD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31" name="Picture 7" descr="Ai Bird on Toilet | TikTok">
            <a:extLst>
              <a:ext uri="{FF2B5EF4-FFF2-40B4-BE49-F238E27FC236}">
                <a16:creationId xmlns:a16="http://schemas.microsoft.com/office/drawing/2014/main" id="{6FC33DE4-3BAB-882F-E76D-9000ED58ED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6"/>
          <a:stretch>
            <a:fillRect/>
          </a:stretch>
        </p:blipFill>
        <p:spPr bwMode="auto">
          <a:xfrm>
            <a:off x="1143282" y="1268513"/>
            <a:ext cx="1808069" cy="169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rone Radar Distinguish Birds or Drones">
            <a:extLst>
              <a:ext uri="{FF2B5EF4-FFF2-40B4-BE49-F238E27FC236}">
                <a16:creationId xmlns:a16="http://schemas.microsoft.com/office/drawing/2014/main" id="{635777E3-A32F-2C20-EEFC-75A4FBB18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62" y="3060619"/>
            <a:ext cx="3521196" cy="21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5">
            <a:extLst>
              <a:ext uri="{FF2B5EF4-FFF2-40B4-BE49-F238E27FC236}">
                <a16:creationId xmlns:a16="http://schemas.microsoft.com/office/drawing/2014/main" id="{0AD6F551-6153-33D6-7D1F-BFEFB5EF8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937" y="5376111"/>
            <a:ext cx="1668839" cy="94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0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12568-B82F-235D-C206-8D3CB78A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995047-C4AE-CB27-544D-4088184F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839" y="358224"/>
            <a:ext cx="8581102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dirty="0" err="1">
                <a:cs typeface="+mn-cs"/>
              </a:rPr>
              <a:t>הפרוייקט</a:t>
            </a:r>
            <a:r>
              <a:rPr lang="he-IL" b="1" dirty="0">
                <a:cs typeface="+mn-cs"/>
              </a:rPr>
              <a:t>: מסווג - לא רק מזהה אם רחפן</a:t>
            </a:r>
            <a:endParaRPr lang="en-US" b="1" dirty="0"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F327E6-13C4-5BEA-B481-29F68979C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6" y="1189915"/>
            <a:ext cx="10784534" cy="5188669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b="1" dirty="0"/>
              <a:t>סידור שונה של המדבקות מביא לחתימת מיקרו-דופלר שונה.</a:t>
            </a:r>
            <a:endParaRPr lang="he-IL" dirty="0"/>
          </a:p>
          <a:p>
            <a:pPr algn="r" rtl="1"/>
            <a:endParaRPr lang="he-IL" sz="2000" dirty="0"/>
          </a:p>
          <a:p>
            <a:pPr algn="r" rtl="1"/>
            <a:endParaRPr lang="he-IL" sz="2000" dirty="0"/>
          </a:p>
          <a:p>
            <a:pPr algn="r" rtl="1"/>
            <a:endParaRPr lang="he-IL" sz="2000" dirty="0"/>
          </a:p>
          <a:p>
            <a:pPr algn="r" rtl="1"/>
            <a:endParaRPr lang="he-IL" sz="2000" dirty="0"/>
          </a:p>
          <a:p>
            <a:pPr algn="r" rtl="1"/>
            <a:endParaRPr lang="he-IL" sz="2000" dirty="0"/>
          </a:p>
          <a:p>
            <a:pPr marL="0" indent="0" algn="r" rtl="1">
              <a:buNone/>
            </a:pPr>
            <a:endParaRPr lang="he-IL" sz="2400" b="1" dirty="0"/>
          </a:p>
          <a:p>
            <a:pPr marL="0" indent="0" algn="r" rtl="1">
              <a:buNone/>
            </a:pPr>
            <a:endParaRPr lang="he-IL" sz="2400" b="1" dirty="0"/>
          </a:p>
          <a:p>
            <a:pPr marL="0" indent="0" algn="r" rtl="1">
              <a:buNone/>
            </a:pPr>
            <a:endParaRPr lang="he-IL" sz="2400" b="1" dirty="0"/>
          </a:p>
          <a:p>
            <a:pPr algn="r" rtl="1"/>
            <a:r>
              <a:rPr lang="he-IL" sz="2400" dirty="0"/>
              <a:t>בהינתן 6 דגימות מעבדה מכל מחלקה מבין 34 מחלקות שונות – עלינו לסווג חתימות מיקרו‑דופלר של דגימות חדשות ו</a:t>
            </a:r>
            <a:r>
              <a:rPr lang="he-IL" sz="2400" u="sng" dirty="0"/>
              <a:t>רועשות</a:t>
            </a:r>
            <a:r>
              <a:rPr lang="he-IL" sz="2400" dirty="0"/>
              <a:t> ברמות </a:t>
            </a:r>
            <a:r>
              <a:rPr lang="en-US" sz="2400" dirty="0"/>
              <a:t>SNR </a:t>
            </a:r>
            <a:r>
              <a:rPr lang="he-IL" sz="2400" dirty="0"/>
              <a:t> נמוכות ככל הניתן.</a:t>
            </a:r>
          </a:p>
          <a:p>
            <a:pPr marL="0" indent="0" algn="r" rtl="1">
              <a:buNone/>
            </a:pPr>
            <a:endParaRPr lang="he-IL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664728-8E13-81F8-1BDF-91B5963692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B49546E-5C6C-13CA-41AA-0FCBB42F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352739-273F-4728-8B1A-480EEBF683A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7/13/2025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4A932B-02B8-6E20-4413-CC90EE3A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7A11E8-8F25-49C3-8F7D-865FECFDFD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1A28708F-4EE2-4483-5400-44E22348288A}"/>
              </a:ext>
            </a:extLst>
          </p:cNvPr>
          <p:cNvGrpSpPr/>
          <p:nvPr/>
        </p:nvGrpSpPr>
        <p:grpSpPr>
          <a:xfrm>
            <a:off x="5112639" y="1944675"/>
            <a:ext cx="5593713" cy="2715443"/>
            <a:chOff x="5216474" y="1797096"/>
            <a:chExt cx="6532178" cy="3902711"/>
          </a:xfrm>
        </p:grpSpPr>
        <p:pic>
          <p:nvPicPr>
            <p:cNvPr id="11" name="תמונה 10">
              <a:extLst>
                <a:ext uri="{FF2B5EF4-FFF2-40B4-BE49-F238E27FC236}">
                  <a16:creationId xmlns:a16="http://schemas.microsoft.com/office/drawing/2014/main" id="{669987A0-911D-4DBD-92A8-E5AC55EF4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6474" y="1797096"/>
              <a:ext cx="6532178" cy="3902711"/>
            </a:xfrm>
            <a:prstGeom prst="rect">
              <a:avLst/>
            </a:prstGeom>
          </p:spPr>
        </p:pic>
        <p:sp>
          <p:nvSpPr>
            <p:cNvPr id="12" name="תיבת טקסט 10">
              <a:extLst>
                <a:ext uri="{FF2B5EF4-FFF2-40B4-BE49-F238E27FC236}">
                  <a16:creationId xmlns:a16="http://schemas.microsoft.com/office/drawing/2014/main" id="{E656DFB4-83B3-B9D0-03BF-DB5D6428DA1E}"/>
                </a:ext>
              </a:extLst>
            </p:cNvPr>
            <p:cNvSpPr txBox="1"/>
            <p:nvPr/>
          </p:nvSpPr>
          <p:spPr>
            <a:xfrm>
              <a:off x="5407955" y="1888722"/>
              <a:ext cx="2059940" cy="5866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10000000</a:t>
              </a:r>
              <a:endParaRPr lang="en-US" sz="2400" dirty="0">
                <a:solidFill>
                  <a:srgbClr val="3333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3" name="תיבת טקסט 11">
              <a:extLst>
                <a:ext uri="{FF2B5EF4-FFF2-40B4-BE49-F238E27FC236}">
                  <a16:creationId xmlns:a16="http://schemas.microsoft.com/office/drawing/2014/main" id="{23BEC389-6F8B-0EA4-6BD2-F6223E49BE68}"/>
                </a:ext>
              </a:extLst>
            </p:cNvPr>
            <p:cNvSpPr txBox="1"/>
            <p:nvPr/>
          </p:nvSpPr>
          <p:spPr>
            <a:xfrm>
              <a:off x="8638309" y="1892725"/>
              <a:ext cx="1939931" cy="5866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11111111</a:t>
              </a:r>
              <a:endParaRPr lang="en-US" sz="2400" dirty="0">
                <a:solidFill>
                  <a:srgbClr val="3333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4" name="תיבת טקסט 14">
              <a:extLst>
                <a:ext uri="{FF2B5EF4-FFF2-40B4-BE49-F238E27FC236}">
                  <a16:creationId xmlns:a16="http://schemas.microsoft.com/office/drawing/2014/main" id="{948E98D2-ED5B-AA43-2827-7393750BCA3D}"/>
                </a:ext>
              </a:extLst>
            </p:cNvPr>
            <p:cNvSpPr txBox="1"/>
            <p:nvPr/>
          </p:nvSpPr>
          <p:spPr>
            <a:xfrm>
              <a:off x="5497405" y="3748451"/>
              <a:ext cx="2059941" cy="5866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10101010</a:t>
              </a:r>
              <a:endParaRPr lang="en-US" sz="2400" dirty="0">
                <a:solidFill>
                  <a:srgbClr val="3333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5" name="תיבת טקסט 12">
              <a:extLst>
                <a:ext uri="{FF2B5EF4-FFF2-40B4-BE49-F238E27FC236}">
                  <a16:creationId xmlns:a16="http://schemas.microsoft.com/office/drawing/2014/main" id="{5AD716D4-686F-26A8-6D9A-8FF8682542B1}"/>
                </a:ext>
              </a:extLst>
            </p:cNvPr>
            <p:cNvSpPr txBox="1"/>
            <p:nvPr/>
          </p:nvSpPr>
          <p:spPr>
            <a:xfrm>
              <a:off x="8638309" y="3748451"/>
              <a:ext cx="1715362" cy="586699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12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00001111</a:t>
              </a:r>
              <a:endParaRPr lang="en-US" sz="2400" dirty="0">
                <a:solidFill>
                  <a:srgbClr val="3333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קבוצה 16">
            <a:extLst>
              <a:ext uri="{FF2B5EF4-FFF2-40B4-BE49-F238E27FC236}">
                <a16:creationId xmlns:a16="http://schemas.microsoft.com/office/drawing/2014/main" id="{B8A7BD2D-609B-FCE4-47E1-1A8802FB4FB4}"/>
              </a:ext>
            </a:extLst>
          </p:cNvPr>
          <p:cNvGrpSpPr/>
          <p:nvPr/>
        </p:nvGrpSpPr>
        <p:grpSpPr>
          <a:xfrm>
            <a:off x="1485648" y="2133600"/>
            <a:ext cx="2865298" cy="2349910"/>
            <a:chOff x="285116" y="1357483"/>
            <a:chExt cx="3316685" cy="3807623"/>
          </a:xfrm>
        </p:grpSpPr>
        <p:grpSp>
          <p:nvGrpSpPr>
            <p:cNvPr id="18" name="קבוצה 17">
              <a:extLst>
                <a:ext uri="{FF2B5EF4-FFF2-40B4-BE49-F238E27FC236}">
                  <a16:creationId xmlns:a16="http://schemas.microsoft.com/office/drawing/2014/main" id="{3517A5ED-F890-9615-08CC-20BAFA434BB1}"/>
                </a:ext>
              </a:extLst>
            </p:cNvPr>
            <p:cNvGrpSpPr/>
            <p:nvPr/>
          </p:nvGrpSpPr>
          <p:grpSpPr>
            <a:xfrm>
              <a:off x="285116" y="1357483"/>
              <a:ext cx="3316685" cy="3807623"/>
              <a:chOff x="285116" y="1357483"/>
              <a:chExt cx="3316685" cy="3807623"/>
            </a:xfrm>
          </p:grpSpPr>
          <p:pic>
            <p:nvPicPr>
              <p:cNvPr id="27" name="Picture 3">
                <a:extLst>
                  <a:ext uri="{FF2B5EF4-FFF2-40B4-BE49-F238E27FC236}">
                    <a16:creationId xmlns:a16="http://schemas.microsoft.com/office/drawing/2014/main" id="{4B58AC17-C358-7706-245B-DC793AC220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116" y="1357483"/>
                <a:ext cx="3316685" cy="3807623"/>
              </a:xfrm>
              <a:prstGeom prst="rect">
                <a:avLst/>
              </a:prstGeom>
            </p:spPr>
          </p:pic>
          <p:sp>
            <p:nvSpPr>
              <p:cNvPr id="28" name="מלבן 27">
                <a:extLst>
                  <a:ext uri="{FF2B5EF4-FFF2-40B4-BE49-F238E27FC236}">
                    <a16:creationId xmlns:a16="http://schemas.microsoft.com/office/drawing/2014/main" id="{9399670F-8D3E-BC00-B9C4-A686D562E652}"/>
                  </a:ext>
                </a:extLst>
              </p:cNvPr>
              <p:cNvSpPr/>
              <p:nvPr/>
            </p:nvSpPr>
            <p:spPr>
              <a:xfrm>
                <a:off x="2310765" y="2410508"/>
                <a:ext cx="60959" cy="16886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9" name="מלבן 28">
                <a:extLst>
                  <a:ext uri="{FF2B5EF4-FFF2-40B4-BE49-F238E27FC236}">
                    <a16:creationId xmlns:a16="http://schemas.microsoft.com/office/drawing/2014/main" id="{4E676ABE-ED1C-EE7E-13C5-9D62B1B04770}"/>
                  </a:ext>
                </a:extLst>
              </p:cNvPr>
              <p:cNvSpPr/>
              <p:nvPr/>
            </p:nvSpPr>
            <p:spPr>
              <a:xfrm rot="5400000">
                <a:off x="2220002" y="2489273"/>
                <a:ext cx="144000" cy="36000"/>
              </a:xfrm>
              <a:prstGeom prst="rect">
                <a:avLst/>
              </a:prstGeom>
              <a:solidFill>
                <a:srgbClr val="8C8F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 b="1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  <p:sp>
          <p:nvSpPr>
            <p:cNvPr id="19" name="מלבן 18">
              <a:extLst>
                <a:ext uri="{FF2B5EF4-FFF2-40B4-BE49-F238E27FC236}">
                  <a16:creationId xmlns:a16="http://schemas.microsoft.com/office/drawing/2014/main" id="{F4B1A7F0-B065-B714-44C2-5FA1D1ACD451}"/>
                </a:ext>
              </a:extLst>
            </p:cNvPr>
            <p:cNvSpPr/>
            <p:nvPr/>
          </p:nvSpPr>
          <p:spPr>
            <a:xfrm>
              <a:off x="860207" y="1524000"/>
              <a:ext cx="177800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0" name="מלבן 19">
              <a:extLst>
                <a:ext uri="{FF2B5EF4-FFF2-40B4-BE49-F238E27FC236}">
                  <a16:creationId xmlns:a16="http://schemas.microsoft.com/office/drawing/2014/main" id="{716D7108-B9E5-3844-EC81-8C0149F16FC6}"/>
                </a:ext>
              </a:extLst>
            </p:cNvPr>
            <p:cNvSpPr/>
            <p:nvPr/>
          </p:nvSpPr>
          <p:spPr>
            <a:xfrm>
              <a:off x="2742791" y="2846054"/>
              <a:ext cx="177800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6DC01AA4-2182-88C8-CF67-3786DB0A6E10}"/>
                </a:ext>
              </a:extLst>
            </p:cNvPr>
            <p:cNvSpPr/>
            <p:nvPr/>
          </p:nvSpPr>
          <p:spPr>
            <a:xfrm>
              <a:off x="2742791" y="1555734"/>
              <a:ext cx="177800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לבן 21">
              <a:extLst>
                <a:ext uri="{FF2B5EF4-FFF2-40B4-BE49-F238E27FC236}">
                  <a16:creationId xmlns:a16="http://schemas.microsoft.com/office/drawing/2014/main" id="{16064569-50DF-E21D-027E-C6CF7467ABC6}"/>
                </a:ext>
              </a:extLst>
            </p:cNvPr>
            <p:cNvSpPr/>
            <p:nvPr/>
          </p:nvSpPr>
          <p:spPr>
            <a:xfrm>
              <a:off x="878848" y="2846054"/>
              <a:ext cx="177800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CF403395-C3BE-42C8-D787-A342E282B4AF}"/>
                </a:ext>
              </a:extLst>
            </p:cNvPr>
            <p:cNvSpPr/>
            <p:nvPr/>
          </p:nvSpPr>
          <p:spPr>
            <a:xfrm>
              <a:off x="674795" y="3429000"/>
              <a:ext cx="177800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מלבן 23">
              <a:extLst>
                <a:ext uri="{FF2B5EF4-FFF2-40B4-BE49-F238E27FC236}">
                  <a16:creationId xmlns:a16="http://schemas.microsoft.com/office/drawing/2014/main" id="{0656C4E5-175B-3FEA-97ED-42E67033EFD2}"/>
                </a:ext>
              </a:extLst>
            </p:cNvPr>
            <p:cNvSpPr/>
            <p:nvPr/>
          </p:nvSpPr>
          <p:spPr>
            <a:xfrm>
              <a:off x="763695" y="4785361"/>
              <a:ext cx="177800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5" name="מלבן 24">
              <a:extLst>
                <a:ext uri="{FF2B5EF4-FFF2-40B4-BE49-F238E27FC236}">
                  <a16:creationId xmlns:a16="http://schemas.microsoft.com/office/drawing/2014/main" id="{2C4FF4BA-251C-4BF3-E66B-CC83AEC9908F}"/>
                </a:ext>
              </a:extLst>
            </p:cNvPr>
            <p:cNvSpPr/>
            <p:nvPr/>
          </p:nvSpPr>
          <p:spPr>
            <a:xfrm>
              <a:off x="2730099" y="4753627"/>
              <a:ext cx="177800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6" name="מלבן 25">
              <a:extLst>
                <a:ext uri="{FF2B5EF4-FFF2-40B4-BE49-F238E27FC236}">
                  <a16:creationId xmlns:a16="http://schemas.microsoft.com/office/drawing/2014/main" id="{782798C8-74AD-C677-071D-E95E3022E985}"/>
                </a:ext>
              </a:extLst>
            </p:cNvPr>
            <p:cNvSpPr/>
            <p:nvPr/>
          </p:nvSpPr>
          <p:spPr>
            <a:xfrm>
              <a:off x="2694126" y="3429000"/>
              <a:ext cx="177800" cy="27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249986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C1AB-3EB1-F1E3-5705-675DC6B9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8D3359-B77C-03E6-E073-D859374594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7F770A-2EEB-3D0F-AB48-FC34E1C8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/>
          </a:p>
        </p:txBody>
      </p:sp>
      <p:pic>
        <p:nvPicPr>
          <p:cNvPr id="2" name="מציין מיקום תוכן 1">
            <a:extLst>
              <a:ext uri="{FF2B5EF4-FFF2-40B4-BE49-F238E27FC236}">
                <a16:creationId xmlns:a16="http://schemas.microsoft.com/office/drawing/2014/main" id="{939B25F2-DC28-A79B-5694-64AD8B1D3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9968" y="1208152"/>
            <a:ext cx="3209447" cy="2359025"/>
          </a:xfrm>
          <a:prstGeom prst="rect">
            <a:avLst/>
          </a:prstGeom>
        </p:spPr>
      </p:pic>
      <p:sp>
        <p:nvSpPr>
          <p:cNvPr id="3" name="חץ: ימינה 2">
            <a:extLst>
              <a:ext uri="{FF2B5EF4-FFF2-40B4-BE49-F238E27FC236}">
                <a16:creationId xmlns:a16="http://schemas.microsoft.com/office/drawing/2014/main" id="{F8E44952-16A6-87F2-F285-62C568AA58B9}"/>
              </a:ext>
            </a:extLst>
          </p:cNvPr>
          <p:cNvSpPr>
            <a:spLocks/>
          </p:cNvSpPr>
          <p:nvPr/>
        </p:nvSpPr>
        <p:spPr>
          <a:xfrm>
            <a:off x="4521753" y="2475967"/>
            <a:ext cx="746438" cy="41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he-IL"/>
          </a:p>
        </p:txBody>
      </p:sp>
      <p:sp>
        <p:nvSpPr>
          <p:cNvPr id="10" name="תיבת טקסט 113">
            <a:extLst>
              <a:ext uri="{FF2B5EF4-FFF2-40B4-BE49-F238E27FC236}">
                <a16:creationId xmlns:a16="http://schemas.microsoft.com/office/drawing/2014/main" id="{84822956-4831-F51C-AA52-28E313138D72}"/>
              </a:ext>
            </a:extLst>
          </p:cNvPr>
          <p:cNvSpPr txBox="1">
            <a:spLocks/>
          </p:cNvSpPr>
          <p:nvPr/>
        </p:nvSpPr>
        <p:spPr>
          <a:xfrm>
            <a:off x="5585876" y="2324458"/>
            <a:ext cx="850669" cy="7324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1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en-US" sz="2400" b="1" kern="1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C/D</a:t>
            </a:r>
            <a:endParaRPr lang="en-US" sz="2400" dirty="0">
              <a:solidFill>
                <a:srgbClr val="3333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3A7C7711-2C78-C9B5-A989-67C8F8A9D015}"/>
              </a:ext>
            </a:extLst>
          </p:cNvPr>
          <p:cNvSpPr>
            <a:spLocks/>
          </p:cNvSpPr>
          <p:nvPr/>
        </p:nvSpPr>
        <p:spPr>
          <a:xfrm>
            <a:off x="6792508" y="2456627"/>
            <a:ext cx="850669" cy="4513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he-IL"/>
          </a:p>
        </p:txBody>
      </p:sp>
      <p:sp>
        <p:nvSpPr>
          <p:cNvPr id="12" name="תיבת טקסט 116">
            <a:extLst>
              <a:ext uri="{FF2B5EF4-FFF2-40B4-BE49-F238E27FC236}">
                <a16:creationId xmlns:a16="http://schemas.microsoft.com/office/drawing/2014/main" id="{5D45DD2A-339F-4A2F-92C7-D436CE4668B9}"/>
              </a:ext>
            </a:extLst>
          </p:cNvPr>
          <p:cNvSpPr txBox="1">
            <a:spLocks/>
          </p:cNvSpPr>
          <p:nvPr/>
        </p:nvSpPr>
        <p:spPr>
          <a:xfrm>
            <a:off x="7979558" y="1979707"/>
            <a:ext cx="2423050" cy="135011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1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en-US" sz="2400" b="1" kern="1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Micro-doppler analysis</a:t>
            </a:r>
            <a:endParaRPr lang="en-US" sz="2400" dirty="0">
              <a:solidFill>
                <a:srgbClr val="3333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" name="חץ: ימינה 12">
            <a:extLst>
              <a:ext uri="{FF2B5EF4-FFF2-40B4-BE49-F238E27FC236}">
                <a16:creationId xmlns:a16="http://schemas.microsoft.com/office/drawing/2014/main" id="{76951EA0-5A02-0A3B-F4D8-382ABC20BDD3}"/>
              </a:ext>
            </a:extLst>
          </p:cNvPr>
          <p:cNvSpPr>
            <a:spLocks/>
          </p:cNvSpPr>
          <p:nvPr/>
        </p:nvSpPr>
        <p:spPr>
          <a:xfrm>
            <a:off x="686786" y="5603400"/>
            <a:ext cx="2354639" cy="4465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he-IL"/>
          </a:p>
        </p:txBody>
      </p:sp>
      <p:pic>
        <p:nvPicPr>
          <p:cNvPr id="14" name="Picture 5" descr="תמונה שמכילה צילום מסך, אדום, מלבן, אדום סגול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1DE7C8BA-5EC2-FB51-AC0C-53CF6A8527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40" t="16499" r="8029" b="10404"/>
          <a:stretch/>
        </p:blipFill>
        <p:spPr>
          <a:xfrm>
            <a:off x="586782" y="4331698"/>
            <a:ext cx="2100540" cy="1221432"/>
          </a:xfrm>
          <a:prstGeom prst="rect">
            <a:avLst/>
          </a:prstGeom>
          <a:ln w="19050">
            <a:solidFill>
              <a:srgbClr val="00B050"/>
            </a:solidFill>
          </a:ln>
        </p:spPr>
      </p:pic>
      <p:sp>
        <p:nvSpPr>
          <p:cNvPr id="16" name="תיבת טקסט 111">
            <a:extLst>
              <a:ext uri="{FF2B5EF4-FFF2-40B4-BE49-F238E27FC236}">
                <a16:creationId xmlns:a16="http://schemas.microsoft.com/office/drawing/2014/main" id="{EE6B9132-F890-6DA6-BEBF-E9C1EBB4E2E1}"/>
              </a:ext>
            </a:extLst>
          </p:cNvPr>
          <p:cNvSpPr txBox="1">
            <a:spLocks/>
          </p:cNvSpPr>
          <p:nvPr/>
        </p:nvSpPr>
        <p:spPr>
          <a:xfrm>
            <a:off x="464882" y="3797657"/>
            <a:ext cx="2354639" cy="3808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kern="1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Signature Spectrogram</a:t>
            </a:r>
            <a:endParaRPr lang="en-US" dirty="0">
              <a:solidFill>
                <a:srgbClr val="3333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" name="תיבת טקסט 111">
            <a:extLst>
              <a:ext uri="{FF2B5EF4-FFF2-40B4-BE49-F238E27FC236}">
                <a16:creationId xmlns:a16="http://schemas.microsoft.com/office/drawing/2014/main" id="{6A155208-02FC-4C3E-692E-5A30A5B2E8AD}"/>
              </a:ext>
            </a:extLst>
          </p:cNvPr>
          <p:cNvSpPr txBox="1">
            <a:spLocks/>
          </p:cNvSpPr>
          <p:nvPr/>
        </p:nvSpPr>
        <p:spPr>
          <a:xfrm>
            <a:off x="4368474" y="3593264"/>
            <a:ext cx="2286693" cy="9425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en-US" sz="2800" b="1" kern="1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CNN Classifier</a:t>
            </a:r>
            <a:endParaRPr lang="en-US" sz="2800" dirty="0">
              <a:solidFill>
                <a:srgbClr val="3333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8" name="תמונה 17" descr="תמונה שמכילה קו, מלבן, צבעוני, עיצוב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8C0E1D9E-F895-845A-9A37-8115323C91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797" y="4323403"/>
            <a:ext cx="3412046" cy="20325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חץ: ימינה 18">
            <a:extLst>
              <a:ext uri="{FF2B5EF4-FFF2-40B4-BE49-F238E27FC236}">
                <a16:creationId xmlns:a16="http://schemas.microsoft.com/office/drawing/2014/main" id="{0EB1C77E-620B-7215-BDFC-1EE89EA2C1EE}"/>
              </a:ext>
            </a:extLst>
          </p:cNvPr>
          <p:cNvSpPr>
            <a:spLocks/>
          </p:cNvSpPr>
          <p:nvPr/>
        </p:nvSpPr>
        <p:spPr>
          <a:xfrm>
            <a:off x="7563072" y="5101747"/>
            <a:ext cx="832972" cy="4513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he-IL"/>
          </a:p>
        </p:txBody>
      </p:sp>
      <p:sp>
        <p:nvSpPr>
          <p:cNvPr id="21" name="תיבת טקסט 109">
            <a:extLst>
              <a:ext uri="{FF2B5EF4-FFF2-40B4-BE49-F238E27FC236}">
                <a16:creationId xmlns:a16="http://schemas.microsoft.com/office/drawing/2014/main" id="{A095600F-3EFE-CB56-6600-C20451C932C0}"/>
              </a:ext>
            </a:extLst>
          </p:cNvPr>
          <p:cNvSpPr txBox="1">
            <a:spLocks/>
          </p:cNvSpPr>
          <p:nvPr/>
        </p:nvSpPr>
        <p:spPr>
          <a:xfrm>
            <a:off x="8741273" y="5152017"/>
            <a:ext cx="1992534" cy="61918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en-US" sz="2000" b="1" kern="1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Class Label</a:t>
            </a:r>
            <a:endParaRPr lang="en-US" sz="2000" dirty="0">
              <a:solidFill>
                <a:srgbClr val="3333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2" name="תיבת טקסט 115">
            <a:extLst>
              <a:ext uri="{FF2B5EF4-FFF2-40B4-BE49-F238E27FC236}">
                <a16:creationId xmlns:a16="http://schemas.microsoft.com/office/drawing/2014/main" id="{7E703783-2858-F030-0F3E-826DCEC3D053}"/>
              </a:ext>
            </a:extLst>
          </p:cNvPr>
          <p:cNvSpPr txBox="1">
            <a:spLocks/>
          </p:cNvSpPr>
          <p:nvPr/>
        </p:nvSpPr>
        <p:spPr>
          <a:xfrm>
            <a:off x="8821568" y="4570751"/>
            <a:ext cx="1912239" cy="619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he-IL" sz="2000" b="1" kern="1200" dirty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10000000</a:t>
            </a:r>
            <a:endParaRPr lang="en-US" sz="2000" dirty="0">
              <a:solidFill>
                <a:srgbClr val="3333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CAF9DA89-4D70-915F-C810-6FD10ACA5A20}"/>
              </a:ext>
            </a:extLst>
          </p:cNvPr>
          <p:cNvSpPr txBox="1">
            <a:spLocks/>
          </p:cNvSpPr>
          <p:nvPr/>
        </p:nvSpPr>
        <p:spPr>
          <a:xfrm>
            <a:off x="3572071" y="451200"/>
            <a:ext cx="6410129" cy="575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e-IL" sz="4000" b="1" dirty="0" err="1">
                <a:cs typeface="+mn-cs"/>
              </a:rPr>
              <a:t>הדיאגרמת</a:t>
            </a:r>
            <a:r>
              <a:rPr lang="he-IL" sz="4000" b="1" dirty="0">
                <a:cs typeface="+mn-cs"/>
              </a:rPr>
              <a:t> </a:t>
            </a:r>
            <a:r>
              <a:rPr lang="he-IL" sz="4000" b="1" dirty="0" err="1">
                <a:cs typeface="+mn-cs"/>
              </a:rPr>
              <a:t>הפרוייקט</a:t>
            </a:r>
            <a:r>
              <a:rPr lang="he-IL" sz="4000" b="1" dirty="0">
                <a:cs typeface="+mn-cs"/>
              </a:rPr>
              <a:t> הכוללת</a:t>
            </a:r>
            <a:endParaRPr lang="en-US" sz="4000" b="1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5272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E6D01-176E-2033-0B6C-73C8913A8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D91635-7EDC-D7B6-1F70-A13717DD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494521"/>
            <a:ext cx="7142719" cy="575154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b="1" dirty="0"/>
              <a:t>אופן מימוש המסווג - </a:t>
            </a:r>
            <a:r>
              <a:rPr lang="he-IL" b="1" dirty="0" err="1"/>
              <a:t>דטה</a:t>
            </a:r>
            <a:r>
              <a:rPr lang="he-IL" b="1" dirty="0"/>
              <a:t> סינטטי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18C43A-A11A-3D96-6AEC-3F3AA24AE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55" y="1171730"/>
            <a:ext cx="10623021" cy="2682516"/>
          </a:xfrm>
        </p:spPr>
        <p:txBody>
          <a:bodyPr>
            <a:normAutofit/>
          </a:bodyPr>
          <a:lstStyle/>
          <a:p>
            <a:pPr marL="514350" indent="-514350" algn="r" rtl="1">
              <a:buAutoNum type="arabicPeriod"/>
            </a:pPr>
            <a:r>
              <a:rPr lang="he-IL" u="sng" dirty="0"/>
              <a:t>הגדלת כמות דוגמאות מעבדה </a:t>
            </a:r>
            <a:r>
              <a:rPr lang="he-IL" dirty="0"/>
              <a:t>- סגמנטציה עם חפיפה של 50%.</a:t>
            </a:r>
          </a:p>
          <a:p>
            <a:pPr marL="514350" indent="-514350" algn="r" rtl="1">
              <a:buAutoNum type="arabicPeriod"/>
            </a:pPr>
            <a:r>
              <a:rPr lang="he-IL" u="sng" dirty="0"/>
              <a:t>חלוקה </a:t>
            </a:r>
            <a:r>
              <a:rPr lang="he-IL" u="sng" dirty="0" err="1"/>
              <a:t>לדטה</a:t>
            </a:r>
            <a:r>
              <a:rPr lang="he-IL" u="sng" dirty="0"/>
              <a:t>-סטים</a:t>
            </a:r>
            <a:r>
              <a:rPr lang="he-IL" dirty="0"/>
              <a:t> - ל‑70 % אימון, 20 % ולידציה, 10 % מבחן.</a:t>
            </a:r>
          </a:p>
          <a:p>
            <a:pPr marL="514350" indent="-514350" algn="r" rtl="1">
              <a:buFont typeface="Arial" panose="020B0604020202020204" pitchFamily="34" charset="0"/>
              <a:buAutoNum type="arabicPeriod"/>
            </a:pPr>
            <a:r>
              <a:rPr lang="he-IL" dirty="0"/>
              <a:t>הוספנו רעש ערכי </a:t>
            </a:r>
            <a:r>
              <a:rPr lang="en-US" dirty="0"/>
              <a:t>SNR</a:t>
            </a:r>
            <a:r>
              <a:rPr lang="he-IL" dirty="0"/>
              <a:t> שונים.</a:t>
            </a:r>
          </a:p>
          <a:p>
            <a:pPr marL="514350" indent="-514350" algn="r" rtl="1">
              <a:buAutoNum type="arabicPeriod"/>
            </a:pPr>
            <a:r>
              <a:rPr lang="he-IL" dirty="0"/>
              <a:t>יצירת  </a:t>
            </a:r>
            <a:r>
              <a:rPr lang="he-IL" dirty="0" err="1"/>
              <a:t>ספקטוגרמה</a:t>
            </a:r>
            <a:r>
              <a:rPr lang="he-IL" dirty="0"/>
              <a:t> לכל הדגימות.</a:t>
            </a:r>
          </a:p>
          <a:p>
            <a:pPr marL="514350" indent="-514350" algn="r" rtl="1">
              <a:buAutoNum type="arabicPeriod"/>
            </a:pPr>
            <a:r>
              <a:rPr lang="he-IL" u="sng" dirty="0"/>
              <a:t>הגדלת השונות ומניעת </a:t>
            </a:r>
            <a:r>
              <a:rPr lang="en-US" u="sng" dirty="0"/>
              <a:t>overfitting</a:t>
            </a:r>
            <a:r>
              <a:rPr lang="he-IL" dirty="0"/>
              <a:t> - טרנספורמציה </a:t>
            </a:r>
            <a:r>
              <a:rPr lang="he-IL" dirty="0" err="1"/>
              <a:t>אפינית</a:t>
            </a:r>
            <a:r>
              <a:rPr lang="he-IL" dirty="0"/>
              <a:t> משתנה.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0C925C-F644-3820-D53E-53E33D42B4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08B3481-519F-09F9-F41F-3C5496EF2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4284F6-3F23-0EF6-1F45-5054B2D7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6</a:t>
            </a:fld>
            <a:endParaRPr lang="en-US"/>
          </a:p>
        </p:txBody>
      </p:sp>
      <p:grpSp>
        <p:nvGrpSpPr>
          <p:cNvPr id="19" name="קבוצה 18">
            <a:extLst>
              <a:ext uri="{FF2B5EF4-FFF2-40B4-BE49-F238E27FC236}">
                <a16:creationId xmlns:a16="http://schemas.microsoft.com/office/drawing/2014/main" id="{0D09D2B1-2382-CFD0-8D14-4C70DF6D7E5E}"/>
              </a:ext>
            </a:extLst>
          </p:cNvPr>
          <p:cNvGrpSpPr/>
          <p:nvPr/>
        </p:nvGrpSpPr>
        <p:grpSpPr>
          <a:xfrm>
            <a:off x="1902202" y="3740193"/>
            <a:ext cx="8197985" cy="2730210"/>
            <a:chOff x="12171656" y="17785292"/>
            <a:chExt cx="8554744" cy="4387235"/>
          </a:xfrm>
        </p:grpSpPr>
        <p:pic>
          <p:nvPicPr>
            <p:cNvPr id="20" name="תמונה 19" descr="תמונה שמכילה צילום מסך, צבעוני, מים, סגול&#10;&#10;תוכן שנוצר על-ידי בינה מלאכותית עשוי להיות שגוי.">
              <a:extLst>
                <a:ext uri="{FF2B5EF4-FFF2-40B4-BE49-F238E27FC236}">
                  <a16:creationId xmlns:a16="http://schemas.microsoft.com/office/drawing/2014/main" id="{A9C75139-8EDD-0CD2-FFFF-23ED4F053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235" t="7638" r="2745" b="2127"/>
            <a:stretch/>
          </p:blipFill>
          <p:spPr>
            <a:xfrm>
              <a:off x="12171656" y="17785292"/>
              <a:ext cx="8554744" cy="4387235"/>
            </a:xfrm>
            <a:prstGeom prst="rect">
              <a:avLst/>
            </a:prstGeom>
          </p:spPr>
        </p:pic>
        <p:sp>
          <p:nvSpPr>
            <p:cNvPr id="21" name="תיבת טקסט 20">
              <a:extLst>
                <a:ext uri="{FF2B5EF4-FFF2-40B4-BE49-F238E27FC236}">
                  <a16:creationId xmlns:a16="http://schemas.microsoft.com/office/drawing/2014/main" id="{6D778E1C-3493-8B23-FCC7-0E4150B8D1BB}"/>
                </a:ext>
              </a:extLst>
            </p:cNvPr>
            <p:cNvSpPr txBox="1">
              <a:spLocks/>
            </p:cNvSpPr>
            <p:nvPr/>
          </p:nvSpPr>
          <p:spPr>
            <a:xfrm>
              <a:off x="12205389" y="17876576"/>
              <a:ext cx="1883475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he-IL" sz="2800" b="1" dirty="0">
                  <a:solidFill>
                    <a:schemeClr val="bg1"/>
                  </a:solidFill>
                </a:rPr>
                <a:t>10000000</a:t>
              </a:r>
              <a:endParaRPr lang="he-IL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תיבת טקסט 21">
              <a:extLst>
                <a:ext uri="{FF2B5EF4-FFF2-40B4-BE49-F238E27FC236}">
                  <a16:creationId xmlns:a16="http://schemas.microsoft.com/office/drawing/2014/main" id="{CF28ECCF-49E7-2889-FABA-8B77C58B8941}"/>
                </a:ext>
              </a:extLst>
            </p:cNvPr>
            <p:cNvSpPr txBox="1">
              <a:spLocks/>
            </p:cNvSpPr>
            <p:nvPr/>
          </p:nvSpPr>
          <p:spPr>
            <a:xfrm>
              <a:off x="16532476" y="17876576"/>
              <a:ext cx="1768187" cy="512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he-IL" sz="2800" b="1" dirty="0">
                  <a:solidFill>
                    <a:schemeClr val="bg1"/>
                  </a:solidFill>
                </a:rPr>
                <a:t>11111111</a:t>
              </a:r>
              <a:endParaRPr lang="he-IL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תיבת טקסט 22">
              <a:extLst>
                <a:ext uri="{FF2B5EF4-FFF2-40B4-BE49-F238E27FC236}">
                  <a16:creationId xmlns:a16="http://schemas.microsoft.com/office/drawing/2014/main" id="{B6AFA294-4195-1F19-C24B-78175F32A890}"/>
                </a:ext>
              </a:extLst>
            </p:cNvPr>
            <p:cNvSpPr txBox="1">
              <a:spLocks/>
            </p:cNvSpPr>
            <p:nvPr/>
          </p:nvSpPr>
          <p:spPr>
            <a:xfrm>
              <a:off x="12171656" y="20097637"/>
              <a:ext cx="1883475" cy="512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he-IL" sz="2800" b="1" dirty="0">
                  <a:solidFill>
                    <a:schemeClr val="bg1"/>
                  </a:solidFill>
                </a:rPr>
                <a:t>10101010</a:t>
              </a:r>
              <a:endParaRPr lang="he-IL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תיבת טקסט 23">
              <a:extLst>
                <a:ext uri="{FF2B5EF4-FFF2-40B4-BE49-F238E27FC236}">
                  <a16:creationId xmlns:a16="http://schemas.microsoft.com/office/drawing/2014/main" id="{84FEEF62-65D6-31AA-3936-FF00CD242BE6}"/>
                </a:ext>
              </a:extLst>
            </p:cNvPr>
            <p:cNvSpPr txBox="1">
              <a:spLocks/>
            </p:cNvSpPr>
            <p:nvPr/>
          </p:nvSpPr>
          <p:spPr>
            <a:xfrm>
              <a:off x="16538686" y="20102695"/>
              <a:ext cx="1883475" cy="512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1">
              <a:spAutoFit/>
            </a:bodyPr>
            <a:lstStyle/>
            <a:p>
              <a:pPr algn="ctr" rtl="1"/>
              <a:r>
                <a:rPr lang="he-IL" sz="2800" b="1" dirty="0">
                  <a:solidFill>
                    <a:schemeClr val="bg1"/>
                  </a:solidFill>
                </a:rPr>
                <a:t>00001111</a:t>
              </a:r>
              <a:endParaRPr lang="he-IL" sz="2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963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425F-15DC-0C49-BA14-F08A3C75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FA623E-4E6A-5E07-1238-AA3308CFF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4" y="356745"/>
            <a:ext cx="7624499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he-IL" b="1" dirty="0"/>
              <a:t>אופן מימוש המסווג – רשת </a:t>
            </a:r>
            <a:r>
              <a:rPr lang="he-IL" b="1" dirty="0" err="1"/>
              <a:t>הקונבולוציה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AE186D-91CC-F7A3-FB9F-FABCADCC4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069675"/>
            <a:ext cx="5257799" cy="510728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u="sng" dirty="0"/>
              <a:t>CNN Model</a:t>
            </a:r>
            <a:endParaRPr lang="en-US" b="1" u="sng" dirty="0"/>
          </a:p>
          <a:p>
            <a:r>
              <a:rPr lang="en-US" dirty="0"/>
              <a:t>We used </a:t>
            </a:r>
            <a:r>
              <a:rPr lang="en-US" b="1" dirty="0"/>
              <a:t>3 convolutional layers </a:t>
            </a:r>
            <a:r>
              <a:rPr lang="en-US" dirty="0"/>
              <a:t>32→64→128</a:t>
            </a:r>
            <a:r>
              <a:rPr lang="he-IL" dirty="0"/>
              <a:t> </a:t>
            </a:r>
            <a:r>
              <a:rPr lang="en-US" dirty="0"/>
              <a:t> filters</a:t>
            </a:r>
          </a:p>
          <a:p>
            <a:pPr lvl="0"/>
            <a:r>
              <a:rPr lang="en-US" dirty="0"/>
              <a:t>Each convolutional layer is followed by a </a:t>
            </a:r>
            <a:r>
              <a:rPr lang="en-US" b="1" dirty="0"/>
              <a:t>ReLU </a:t>
            </a:r>
            <a:r>
              <a:rPr lang="en-US" dirty="0"/>
              <a:t>activation function, a 2x2 </a:t>
            </a:r>
            <a:r>
              <a:rPr lang="en-US" b="1" dirty="0" err="1"/>
              <a:t>MaxPooling</a:t>
            </a:r>
            <a:r>
              <a:rPr lang="en-US" dirty="0"/>
              <a:t> </a:t>
            </a:r>
            <a:r>
              <a:rPr lang="en-US" b="1" dirty="0"/>
              <a:t>layer</a:t>
            </a:r>
            <a:r>
              <a:rPr lang="en-US" dirty="0"/>
              <a:t>, and a </a:t>
            </a:r>
            <a:r>
              <a:rPr lang="en-US" b="1" dirty="0"/>
              <a:t>Dropout layer</a:t>
            </a:r>
            <a:r>
              <a:rPr lang="en-US" dirty="0"/>
              <a:t>.</a:t>
            </a:r>
          </a:p>
          <a:p>
            <a:r>
              <a:rPr lang="en-US" dirty="0"/>
              <a:t>In the head, we applied dropout and a </a:t>
            </a:r>
            <a:r>
              <a:rPr lang="en-US" b="1" dirty="0"/>
              <a:t>fully connected layer </a:t>
            </a:r>
            <a:r>
              <a:rPr lang="en-US" dirty="0"/>
              <a:t>ending with a</a:t>
            </a:r>
            <a:r>
              <a:rPr lang="en-US" b="1" dirty="0"/>
              <a:t> </a:t>
            </a:r>
            <a:r>
              <a:rPr lang="en-US" b="1" dirty="0" err="1"/>
              <a:t>softmax</a:t>
            </a:r>
            <a:r>
              <a:rPr lang="en-US" b="1" dirty="0"/>
              <a:t> </a:t>
            </a:r>
            <a:r>
              <a:rPr lang="en-US" dirty="0"/>
              <a:t>output layer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C2F31-8ACE-A8ED-1C9A-8C27F2942B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158C1C9-CBA8-FF09-59EF-204239EF8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27A73-4C8E-4E89-436B-9322AE61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7</a:t>
            </a:fld>
            <a:endParaRPr lang="en-US"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D85319FF-AC4C-F598-A85A-0026178BE0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043" y="1246870"/>
            <a:ext cx="4705756" cy="457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1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0730-8AE3-EDA7-C906-E32B34AD7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B0AAA6-47D0-4B73-B51B-1CC5A97D8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Project 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DF219-4078-57C9-4977-CE25448697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3D09D74-6F9B-92B0-9964-C03C16C78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96C8E-8B1F-535F-F971-413C1B84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8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98A26-4050-B813-BF6F-E4482A534DD8}"/>
              </a:ext>
            </a:extLst>
          </p:cNvPr>
          <p:cNvSpPr/>
          <p:nvPr/>
        </p:nvSpPr>
        <p:spPr>
          <a:xfrm>
            <a:off x="1504697" y="1987065"/>
            <a:ext cx="2684318" cy="11533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Create synthetic dataset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5B1182-CB63-C2D8-F1AF-FC1ABFF14298}"/>
              </a:ext>
            </a:extLst>
          </p:cNvPr>
          <p:cNvSpPr/>
          <p:nvPr/>
        </p:nvSpPr>
        <p:spPr>
          <a:xfrm>
            <a:off x="4820576" y="1981867"/>
            <a:ext cx="2576946" cy="11533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Train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08A0CD-6546-6639-AE71-0B27F05C1BAD}"/>
              </a:ext>
            </a:extLst>
          </p:cNvPr>
          <p:cNvSpPr/>
          <p:nvPr/>
        </p:nvSpPr>
        <p:spPr>
          <a:xfrm>
            <a:off x="8177981" y="1987064"/>
            <a:ext cx="2576946" cy="11533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evaluation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8184EB-1E29-DD2D-497C-CF9276287937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4189015" y="2558563"/>
            <a:ext cx="631561" cy="5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41B4F8-FE48-6BEA-018D-E030264CCAAC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397522" y="2558563"/>
            <a:ext cx="780459" cy="5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B80A5B6-C8CC-D239-840E-0A9FEEA8DE30}"/>
              </a:ext>
            </a:extLst>
          </p:cNvPr>
          <p:cNvSpPr/>
          <p:nvPr/>
        </p:nvSpPr>
        <p:spPr>
          <a:xfrm>
            <a:off x="6361894" y="4335996"/>
            <a:ext cx="4251024" cy="11533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sz="2800" dirty="0"/>
              <a:t>Refine Hyperparameters</a:t>
            </a:r>
          </a:p>
          <a:p>
            <a:pPr algn="ctr"/>
            <a:br>
              <a:rPr lang="en-US" sz="2800" dirty="0"/>
            </a:br>
            <a:endParaRPr lang="en-US" sz="28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120792-CF3C-0E7A-3435-ADED5EC2F18B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 flipH="1">
            <a:off x="8487406" y="3140455"/>
            <a:ext cx="979048" cy="1195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3345DD3-66CF-E5BD-706B-569EDB94D7E6}"/>
              </a:ext>
            </a:extLst>
          </p:cNvPr>
          <p:cNvCxnSpPr>
            <a:cxnSpLocks/>
            <a:stCxn id="19" idx="0"/>
            <a:endCxn id="11" idx="2"/>
          </p:cNvCxnSpPr>
          <p:nvPr/>
        </p:nvCxnSpPr>
        <p:spPr>
          <a:xfrm flipH="1" flipV="1">
            <a:off x="6109049" y="3135258"/>
            <a:ext cx="2378357" cy="1200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48E5365-4757-8364-A038-40BAB76EF3C0}"/>
              </a:ext>
            </a:extLst>
          </p:cNvPr>
          <p:cNvSpPr/>
          <p:nvPr/>
        </p:nvSpPr>
        <p:spPr>
          <a:xfrm>
            <a:off x="1579082" y="4317098"/>
            <a:ext cx="3526072" cy="128587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Generate Synthetic Data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1CB588-54A5-6356-872D-B8AE4B720034}"/>
              </a:ext>
            </a:extLst>
          </p:cNvPr>
          <p:cNvCxnSpPr>
            <a:cxnSpLocks/>
            <a:stCxn id="12" idx="2"/>
            <a:endCxn id="31" idx="0"/>
          </p:cNvCxnSpPr>
          <p:nvPr/>
        </p:nvCxnSpPr>
        <p:spPr>
          <a:xfrm flipH="1">
            <a:off x="3342118" y="3140455"/>
            <a:ext cx="6124336" cy="1176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2BFB4A5-D105-CD3D-3035-1072CA0E3B53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2538593" y="3135258"/>
            <a:ext cx="803525" cy="1181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180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C102-ED0B-0A8C-9592-B0B081DD4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70A686-66D1-F588-F79F-3FDF0A72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785" y="157921"/>
            <a:ext cx="6702725" cy="5751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Methods and Implementation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457A5-762D-0DBB-7520-4BCF3D6213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1AC7D20-C20C-0C06-3864-65F73C6B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99052-39CF-3AF5-5A7B-DD5F8231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9</a:t>
            </a:fld>
            <a:endParaRPr lang="en-US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21C568DD-A4DC-29FE-065F-549277FA46F6}"/>
              </a:ext>
            </a:extLst>
          </p:cNvPr>
          <p:cNvSpPr/>
          <p:nvPr/>
        </p:nvSpPr>
        <p:spPr>
          <a:xfrm>
            <a:off x="5636142" y="1469694"/>
            <a:ext cx="1711883" cy="5751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Drone Classifier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B7CB028F-247E-99E4-E43F-2E03AB778C72}"/>
              </a:ext>
            </a:extLst>
          </p:cNvPr>
          <p:cNvSpPr/>
          <p:nvPr/>
        </p:nvSpPr>
        <p:spPr>
          <a:xfrm>
            <a:off x="1986363" y="2494667"/>
            <a:ext cx="1002726" cy="48014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data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91846517-E64E-3229-25AE-BF2BD776F19F}"/>
              </a:ext>
            </a:extLst>
          </p:cNvPr>
          <p:cNvSpPr/>
          <p:nvPr/>
        </p:nvSpPr>
        <p:spPr>
          <a:xfrm>
            <a:off x="6702632" y="2471789"/>
            <a:ext cx="1000659" cy="4987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training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B7D4A4F2-474B-374C-A61C-7E4E698E8F7A}"/>
              </a:ext>
            </a:extLst>
          </p:cNvPr>
          <p:cNvSpPr txBox="1"/>
          <p:nvPr/>
        </p:nvSpPr>
        <p:spPr>
          <a:xfrm>
            <a:off x="3971967" y="781076"/>
            <a:ext cx="499054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b="1" u="sng" dirty="0"/>
              <a:t>Project Folder Structure</a:t>
            </a:r>
            <a:endParaRPr lang="he-IL" sz="3200" b="1" u="sng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8F1F3A7F-82B9-8570-7471-3B312076853E}"/>
              </a:ext>
            </a:extLst>
          </p:cNvPr>
          <p:cNvSpPr/>
          <p:nvPr/>
        </p:nvSpPr>
        <p:spPr>
          <a:xfrm>
            <a:off x="5161252" y="2494143"/>
            <a:ext cx="1049087" cy="4987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models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5DEB20CF-DAC0-2511-DBC0-970B040336DD}"/>
              </a:ext>
            </a:extLst>
          </p:cNvPr>
          <p:cNvSpPr/>
          <p:nvPr/>
        </p:nvSpPr>
        <p:spPr>
          <a:xfrm>
            <a:off x="254289" y="3953656"/>
            <a:ext cx="1101480" cy="5655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 err="1"/>
              <a:t>raw_data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C8E9EEC0-D0AE-B8A2-B418-A69408B3B9A4}"/>
              </a:ext>
            </a:extLst>
          </p:cNvPr>
          <p:cNvSpPr/>
          <p:nvPr/>
        </p:nvSpPr>
        <p:spPr>
          <a:xfrm>
            <a:off x="1639743" y="3947366"/>
            <a:ext cx="1002727" cy="5655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datasets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F9490319-9222-6858-89F1-3E870C811608}"/>
              </a:ext>
            </a:extLst>
          </p:cNvPr>
          <p:cNvSpPr/>
          <p:nvPr/>
        </p:nvSpPr>
        <p:spPr>
          <a:xfrm>
            <a:off x="2841275" y="3947365"/>
            <a:ext cx="2100252" cy="5655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create_synthetic.py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E2745FD8-AEAA-1ABA-1C09-97BAEA7D4DD9}"/>
              </a:ext>
            </a:extLst>
          </p:cNvPr>
          <p:cNvSpPr/>
          <p:nvPr/>
        </p:nvSpPr>
        <p:spPr>
          <a:xfrm>
            <a:off x="4939684" y="3365877"/>
            <a:ext cx="1492221" cy="49876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cnn.py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74158EAB-B081-62E5-2A55-2C62DCB5372C}"/>
              </a:ext>
            </a:extLst>
          </p:cNvPr>
          <p:cNvSpPr/>
          <p:nvPr/>
        </p:nvSpPr>
        <p:spPr>
          <a:xfrm>
            <a:off x="6183434" y="4486467"/>
            <a:ext cx="1002727" cy="4987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train.py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B909D52F-2301-DA33-AF8C-64C7F0487B9F}"/>
              </a:ext>
            </a:extLst>
          </p:cNvPr>
          <p:cNvSpPr/>
          <p:nvPr/>
        </p:nvSpPr>
        <p:spPr>
          <a:xfrm>
            <a:off x="7795590" y="3560019"/>
            <a:ext cx="1501488" cy="4987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evaluation.py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9908C032-565A-6B90-3CEE-B6CE52311C6E}"/>
              </a:ext>
            </a:extLst>
          </p:cNvPr>
          <p:cNvSpPr/>
          <p:nvPr/>
        </p:nvSpPr>
        <p:spPr>
          <a:xfrm>
            <a:off x="10719089" y="4373526"/>
            <a:ext cx="1385454" cy="4987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</a:rPr>
              <a:t>plot_utils.py</a:t>
            </a:r>
            <a:endParaRPr lang="he-IL" b="1" dirty="0">
              <a:ln w="0"/>
              <a:solidFill>
                <a:schemeClr val="tx1"/>
              </a:solidFill>
            </a:endParaRPr>
          </a:p>
        </p:txBody>
      </p:sp>
      <p:cxnSp>
        <p:nvCxnSpPr>
          <p:cNvPr id="28" name="מחבר חץ ישר 27">
            <a:extLst>
              <a:ext uri="{FF2B5EF4-FFF2-40B4-BE49-F238E27FC236}">
                <a16:creationId xmlns:a16="http://schemas.microsoft.com/office/drawing/2014/main" id="{E322D26E-76F9-C012-08B1-91FA107A1F1A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 flipH="1">
            <a:off x="805029" y="2974811"/>
            <a:ext cx="1682697" cy="9788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מחבר חץ ישר 28">
            <a:extLst>
              <a:ext uri="{FF2B5EF4-FFF2-40B4-BE49-F238E27FC236}">
                <a16:creationId xmlns:a16="http://schemas.microsoft.com/office/drawing/2014/main" id="{75E391F3-2B20-5810-7D52-AFD591496566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2141107" y="2974811"/>
            <a:ext cx="346619" cy="9725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מחבר חץ ישר 32">
            <a:extLst>
              <a:ext uri="{FF2B5EF4-FFF2-40B4-BE49-F238E27FC236}">
                <a16:creationId xmlns:a16="http://schemas.microsoft.com/office/drawing/2014/main" id="{3DC6E6E2-07A5-8B1F-CBA4-9B755B3F0CF3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>
            <a:off x="2487726" y="2974811"/>
            <a:ext cx="1403675" cy="9725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מחבר חץ ישר 36">
            <a:extLst>
              <a:ext uri="{FF2B5EF4-FFF2-40B4-BE49-F238E27FC236}">
                <a16:creationId xmlns:a16="http://schemas.microsoft.com/office/drawing/2014/main" id="{8D656465-D401-2EC9-4AC0-37E2383F31C7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 flipH="1">
            <a:off x="5685795" y="2992906"/>
            <a:ext cx="1" cy="3729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מחבר חץ ישר 41">
            <a:extLst>
              <a:ext uri="{FF2B5EF4-FFF2-40B4-BE49-F238E27FC236}">
                <a16:creationId xmlns:a16="http://schemas.microsoft.com/office/drawing/2014/main" id="{80115971-8621-9D6F-95E5-339AC07EDB03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 flipH="1">
            <a:off x="6684798" y="2970552"/>
            <a:ext cx="518164" cy="15159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מחבר חץ ישר 43">
            <a:extLst>
              <a:ext uri="{FF2B5EF4-FFF2-40B4-BE49-F238E27FC236}">
                <a16:creationId xmlns:a16="http://schemas.microsoft.com/office/drawing/2014/main" id="{1F21D57B-97A9-33C3-8373-05A5FB204031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 flipH="1">
            <a:off x="8546334" y="2984120"/>
            <a:ext cx="936449" cy="5758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מחבר חץ ישר 54">
            <a:extLst>
              <a:ext uri="{FF2B5EF4-FFF2-40B4-BE49-F238E27FC236}">
                <a16:creationId xmlns:a16="http://schemas.microsoft.com/office/drawing/2014/main" id="{275B8E5E-8254-631A-C34C-AE5917BC98ED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492084" y="2044848"/>
            <a:ext cx="710878" cy="4269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מחבר חץ ישר 64">
            <a:extLst>
              <a:ext uri="{FF2B5EF4-FFF2-40B4-BE49-F238E27FC236}">
                <a16:creationId xmlns:a16="http://schemas.microsoft.com/office/drawing/2014/main" id="{55E96D34-F60E-E2C2-E8DB-498CB551D94B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2487726" y="2044848"/>
            <a:ext cx="4004358" cy="4498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מחבר חץ ישר 74">
            <a:extLst>
              <a:ext uri="{FF2B5EF4-FFF2-40B4-BE49-F238E27FC236}">
                <a16:creationId xmlns:a16="http://schemas.microsoft.com/office/drawing/2014/main" id="{9AB880D7-641C-5ECA-672E-99402A716557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 flipH="1">
            <a:off x="5685796" y="2044848"/>
            <a:ext cx="806288" cy="4492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מחבר חץ ישר 187">
            <a:extLst>
              <a:ext uri="{FF2B5EF4-FFF2-40B4-BE49-F238E27FC236}">
                <a16:creationId xmlns:a16="http://schemas.microsoft.com/office/drawing/2014/main" id="{88DA88FC-02C5-13DB-DC98-4D19C9D7B1F6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11411816" y="2195910"/>
            <a:ext cx="0" cy="2177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מלבן 11">
            <a:extLst>
              <a:ext uri="{FF2B5EF4-FFF2-40B4-BE49-F238E27FC236}">
                <a16:creationId xmlns:a16="http://schemas.microsoft.com/office/drawing/2014/main" id="{034632ED-2612-468E-7E17-2026481CB98E}"/>
              </a:ext>
            </a:extLst>
          </p:cNvPr>
          <p:cNvSpPr/>
          <p:nvPr/>
        </p:nvSpPr>
        <p:spPr>
          <a:xfrm>
            <a:off x="8883865" y="2485357"/>
            <a:ext cx="1197835" cy="4987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</a:rPr>
              <a:t>evaluation</a:t>
            </a:r>
            <a:endParaRPr lang="he-IL" b="1" dirty="0">
              <a:ln w="0"/>
              <a:solidFill>
                <a:schemeClr val="tx1"/>
              </a:solidFill>
            </a:endParaRPr>
          </a:p>
        </p:txBody>
      </p:sp>
      <p:cxnSp>
        <p:nvCxnSpPr>
          <p:cNvPr id="27" name="מחבר חץ ישר 43">
            <a:extLst>
              <a:ext uri="{FF2B5EF4-FFF2-40B4-BE49-F238E27FC236}">
                <a16:creationId xmlns:a16="http://schemas.microsoft.com/office/drawing/2014/main" id="{4E305915-0D39-7E86-EBBC-9F68651EAA00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6492084" y="2044848"/>
            <a:ext cx="2990699" cy="4405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מלבן 20">
            <a:extLst>
              <a:ext uri="{FF2B5EF4-FFF2-40B4-BE49-F238E27FC236}">
                <a16:creationId xmlns:a16="http://schemas.microsoft.com/office/drawing/2014/main" id="{47B8736D-2D03-2607-6A1A-4ED08318A31D}"/>
              </a:ext>
            </a:extLst>
          </p:cNvPr>
          <p:cNvSpPr/>
          <p:nvPr/>
        </p:nvSpPr>
        <p:spPr>
          <a:xfrm>
            <a:off x="9672365" y="3461088"/>
            <a:ext cx="1501488" cy="6488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Plot_holdout_summery.py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2" name="מחבר חץ ישר 43">
            <a:extLst>
              <a:ext uri="{FF2B5EF4-FFF2-40B4-BE49-F238E27FC236}">
                <a16:creationId xmlns:a16="http://schemas.microsoft.com/office/drawing/2014/main" id="{84BD1D06-0962-4053-C20E-CF20F368485E}"/>
              </a:ext>
            </a:extLst>
          </p:cNvPr>
          <p:cNvCxnSpPr>
            <a:cxnSpLocks/>
            <a:stCxn id="13" idx="2"/>
            <a:endCxn id="81" idx="0"/>
          </p:cNvCxnSpPr>
          <p:nvPr/>
        </p:nvCxnSpPr>
        <p:spPr>
          <a:xfrm>
            <a:off x="9482783" y="2984120"/>
            <a:ext cx="940326" cy="4769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מחבר חץ ישר 187">
            <a:extLst>
              <a:ext uri="{FF2B5EF4-FFF2-40B4-BE49-F238E27FC236}">
                <a16:creationId xmlns:a16="http://schemas.microsoft.com/office/drawing/2014/main" id="{B788FF6E-6A92-E1AC-1D78-DB574A7C5F72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6492084" y="2044848"/>
            <a:ext cx="4919732" cy="1455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6" name="מלבן 16">
            <a:extLst>
              <a:ext uri="{FF2B5EF4-FFF2-40B4-BE49-F238E27FC236}">
                <a16:creationId xmlns:a16="http://schemas.microsoft.com/office/drawing/2014/main" id="{BCE056E8-40B5-124F-43B3-D8D06EBA9A22}"/>
              </a:ext>
            </a:extLst>
          </p:cNvPr>
          <p:cNvSpPr/>
          <p:nvPr/>
        </p:nvSpPr>
        <p:spPr>
          <a:xfrm>
            <a:off x="65742" y="5086365"/>
            <a:ext cx="1682696" cy="5655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dataset1_name</a:t>
            </a:r>
            <a:endParaRPr lang="he-I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8" name="מלבן 16">
            <a:extLst>
              <a:ext uri="{FF2B5EF4-FFF2-40B4-BE49-F238E27FC236}">
                <a16:creationId xmlns:a16="http://schemas.microsoft.com/office/drawing/2014/main" id="{BADCB085-2306-91D0-244C-7A6517283E68}"/>
              </a:ext>
            </a:extLst>
          </p:cNvPr>
          <p:cNvSpPr/>
          <p:nvPr/>
        </p:nvSpPr>
        <p:spPr>
          <a:xfrm>
            <a:off x="1935584" y="5117264"/>
            <a:ext cx="1645816" cy="5655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dataset2_name</a:t>
            </a:r>
            <a:endParaRPr lang="he-I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79" name="מחבר חץ ישר 28">
            <a:extLst>
              <a:ext uri="{FF2B5EF4-FFF2-40B4-BE49-F238E27FC236}">
                <a16:creationId xmlns:a16="http://schemas.microsoft.com/office/drawing/2014/main" id="{2CB8D104-88C7-842F-9FD3-04BBE47A4017}"/>
              </a:ext>
            </a:extLst>
          </p:cNvPr>
          <p:cNvCxnSpPr>
            <a:cxnSpLocks/>
            <a:stCxn id="17" idx="2"/>
            <a:endCxn id="276" idx="0"/>
          </p:cNvCxnSpPr>
          <p:nvPr/>
        </p:nvCxnSpPr>
        <p:spPr>
          <a:xfrm flipH="1">
            <a:off x="907090" y="4512964"/>
            <a:ext cx="1234017" cy="5734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2" name="מחבר חץ ישר 28">
            <a:extLst>
              <a:ext uri="{FF2B5EF4-FFF2-40B4-BE49-F238E27FC236}">
                <a16:creationId xmlns:a16="http://schemas.microsoft.com/office/drawing/2014/main" id="{09CB4B8A-9899-9ED3-27B6-F2B88E0EDE57}"/>
              </a:ext>
            </a:extLst>
          </p:cNvPr>
          <p:cNvCxnSpPr>
            <a:cxnSpLocks/>
            <a:stCxn id="17" idx="2"/>
            <a:endCxn id="278" idx="0"/>
          </p:cNvCxnSpPr>
          <p:nvPr/>
        </p:nvCxnSpPr>
        <p:spPr>
          <a:xfrm>
            <a:off x="2141107" y="4512964"/>
            <a:ext cx="617385" cy="6043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3" name="מחבר חץ ישר 28">
            <a:extLst>
              <a:ext uri="{FF2B5EF4-FFF2-40B4-BE49-F238E27FC236}">
                <a16:creationId xmlns:a16="http://schemas.microsoft.com/office/drawing/2014/main" id="{51E3B3F1-95E8-2217-820E-B0B067F20AF7}"/>
              </a:ext>
            </a:extLst>
          </p:cNvPr>
          <p:cNvCxnSpPr>
            <a:cxnSpLocks/>
            <a:stCxn id="278" idx="2"/>
            <a:endCxn id="307" idx="0"/>
          </p:cNvCxnSpPr>
          <p:nvPr/>
        </p:nvCxnSpPr>
        <p:spPr>
          <a:xfrm flipH="1">
            <a:off x="599326" y="5682862"/>
            <a:ext cx="2159166" cy="6942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6" name="מחבר חץ ישר 28">
            <a:extLst>
              <a:ext uri="{FF2B5EF4-FFF2-40B4-BE49-F238E27FC236}">
                <a16:creationId xmlns:a16="http://schemas.microsoft.com/office/drawing/2014/main" id="{4B45CB6A-0291-C417-EF23-7B04FA46A293}"/>
              </a:ext>
            </a:extLst>
          </p:cNvPr>
          <p:cNvCxnSpPr>
            <a:cxnSpLocks/>
            <a:stCxn id="278" idx="2"/>
            <a:endCxn id="316" idx="0"/>
          </p:cNvCxnSpPr>
          <p:nvPr/>
        </p:nvCxnSpPr>
        <p:spPr>
          <a:xfrm flipH="1">
            <a:off x="1676813" y="5682862"/>
            <a:ext cx="1081679" cy="6971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9" name="מחבר חץ ישר 28">
            <a:extLst>
              <a:ext uri="{FF2B5EF4-FFF2-40B4-BE49-F238E27FC236}">
                <a16:creationId xmlns:a16="http://schemas.microsoft.com/office/drawing/2014/main" id="{868AA09D-3626-88A1-CA57-3A0C8D5A94E8}"/>
              </a:ext>
            </a:extLst>
          </p:cNvPr>
          <p:cNvCxnSpPr>
            <a:cxnSpLocks/>
            <a:stCxn id="278" idx="2"/>
            <a:endCxn id="319" idx="0"/>
          </p:cNvCxnSpPr>
          <p:nvPr/>
        </p:nvCxnSpPr>
        <p:spPr>
          <a:xfrm>
            <a:off x="2758492" y="5682862"/>
            <a:ext cx="527328" cy="6971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2" name="מחבר חץ ישר 28">
            <a:extLst>
              <a:ext uri="{FF2B5EF4-FFF2-40B4-BE49-F238E27FC236}">
                <a16:creationId xmlns:a16="http://schemas.microsoft.com/office/drawing/2014/main" id="{EEF47978-7AE4-EB64-5A20-BC0322E58768}"/>
              </a:ext>
            </a:extLst>
          </p:cNvPr>
          <p:cNvCxnSpPr>
            <a:cxnSpLocks/>
            <a:endCxn id="327" idx="0"/>
          </p:cNvCxnSpPr>
          <p:nvPr/>
        </p:nvCxnSpPr>
        <p:spPr>
          <a:xfrm>
            <a:off x="2791453" y="5683562"/>
            <a:ext cx="2680792" cy="745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7" name="מלבן 16">
            <a:extLst>
              <a:ext uri="{FF2B5EF4-FFF2-40B4-BE49-F238E27FC236}">
                <a16:creationId xmlns:a16="http://schemas.microsoft.com/office/drawing/2014/main" id="{8F01F672-87C3-CED3-6C6B-DCDBB94C4759}"/>
              </a:ext>
            </a:extLst>
          </p:cNvPr>
          <p:cNvSpPr/>
          <p:nvPr/>
        </p:nvSpPr>
        <p:spPr>
          <a:xfrm>
            <a:off x="82500" y="6377137"/>
            <a:ext cx="1033652" cy="3651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 err="1">
                <a:ln w="0"/>
                <a:solidFill>
                  <a:schemeClr val="tx1"/>
                </a:solidFill>
              </a:rPr>
              <a:t>Train.npz</a:t>
            </a:r>
            <a:endParaRPr lang="he-IL" sz="1600" dirty="0">
              <a:ln w="0"/>
              <a:solidFill>
                <a:schemeClr val="tx1"/>
              </a:solidFill>
            </a:endParaRPr>
          </a:p>
        </p:txBody>
      </p:sp>
      <p:sp>
        <p:nvSpPr>
          <p:cNvPr id="316" name="מלבן 16">
            <a:extLst>
              <a:ext uri="{FF2B5EF4-FFF2-40B4-BE49-F238E27FC236}">
                <a16:creationId xmlns:a16="http://schemas.microsoft.com/office/drawing/2014/main" id="{0F66B60B-CB78-9DF9-73F7-CC88A63211B2}"/>
              </a:ext>
            </a:extLst>
          </p:cNvPr>
          <p:cNvSpPr/>
          <p:nvPr/>
        </p:nvSpPr>
        <p:spPr>
          <a:xfrm>
            <a:off x="1159987" y="6380023"/>
            <a:ext cx="1033652" cy="3651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 err="1">
                <a:ln w="0"/>
                <a:solidFill>
                  <a:schemeClr val="tx1"/>
                </a:solidFill>
              </a:rPr>
              <a:t>Val.npz</a:t>
            </a:r>
            <a:endParaRPr lang="he-IL" sz="1600" dirty="0">
              <a:ln w="0"/>
              <a:solidFill>
                <a:schemeClr val="tx1"/>
              </a:solidFill>
            </a:endParaRPr>
          </a:p>
        </p:txBody>
      </p:sp>
      <p:sp>
        <p:nvSpPr>
          <p:cNvPr id="319" name="מלבן 16">
            <a:extLst>
              <a:ext uri="{FF2B5EF4-FFF2-40B4-BE49-F238E27FC236}">
                <a16:creationId xmlns:a16="http://schemas.microsoft.com/office/drawing/2014/main" id="{1266CE15-AE79-2FFA-BBF2-E26236B55705}"/>
              </a:ext>
            </a:extLst>
          </p:cNvPr>
          <p:cNvSpPr/>
          <p:nvPr/>
        </p:nvSpPr>
        <p:spPr>
          <a:xfrm>
            <a:off x="2301956" y="6380023"/>
            <a:ext cx="1967727" cy="3906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</a:rPr>
              <a:t>Holdout_SNR_10.npz</a:t>
            </a:r>
            <a:endParaRPr lang="he-IL" sz="1600" dirty="0">
              <a:ln w="0"/>
              <a:solidFill>
                <a:schemeClr val="tx1"/>
              </a:solidFill>
            </a:endParaRPr>
          </a:p>
        </p:txBody>
      </p:sp>
      <p:sp>
        <p:nvSpPr>
          <p:cNvPr id="327" name="מלבן 16">
            <a:extLst>
              <a:ext uri="{FF2B5EF4-FFF2-40B4-BE49-F238E27FC236}">
                <a16:creationId xmlns:a16="http://schemas.microsoft.com/office/drawing/2014/main" id="{0A0AF43E-159F-C582-FFDB-99E7E6ACA8B5}"/>
              </a:ext>
            </a:extLst>
          </p:cNvPr>
          <p:cNvSpPr/>
          <p:nvPr/>
        </p:nvSpPr>
        <p:spPr>
          <a:xfrm>
            <a:off x="4384283" y="6429091"/>
            <a:ext cx="2175923" cy="38142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</a:rPr>
              <a:t>Holdout_SNR_12.npz</a:t>
            </a:r>
            <a:endParaRPr lang="he-IL" sz="1600" dirty="0">
              <a:ln w="0"/>
              <a:solidFill>
                <a:schemeClr val="tx1"/>
              </a:solidFill>
            </a:endParaRPr>
          </a:p>
        </p:txBody>
      </p:sp>
      <p:sp>
        <p:nvSpPr>
          <p:cNvPr id="333" name="מלבן 16">
            <a:extLst>
              <a:ext uri="{FF2B5EF4-FFF2-40B4-BE49-F238E27FC236}">
                <a16:creationId xmlns:a16="http://schemas.microsoft.com/office/drawing/2014/main" id="{21468EB2-85D1-76FE-767B-25FA0B1B0453}"/>
              </a:ext>
            </a:extLst>
          </p:cNvPr>
          <p:cNvSpPr/>
          <p:nvPr/>
        </p:nvSpPr>
        <p:spPr>
          <a:xfrm>
            <a:off x="3735830" y="5133139"/>
            <a:ext cx="527328" cy="5655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…</a:t>
            </a:r>
            <a:endParaRPr lang="he-I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4" name="מחבר חץ ישר 28">
            <a:extLst>
              <a:ext uri="{FF2B5EF4-FFF2-40B4-BE49-F238E27FC236}">
                <a16:creationId xmlns:a16="http://schemas.microsoft.com/office/drawing/2014/main" id="{5E448025-D8E1-4208-E97E-0240B9CE4177}"/>
              </a:ext>
            </a:extLst>
          </p:cNvPr>
          <p:cNvCxnSpPr>
            <a:cxnSpLocks/>
            <a:stCxn id="17" idx="2"/>
            <a:endCxn id="333" idx="0"/>
          </p:cNvCxnSpPr>
          <p:nvPr/>
        </p:nvCxnSpPr>
        <p:spPr>
          <a:xfrm>
            <a:off x="2141107" y="4512964"/>
            <a:ext cx="1858387" cy="6201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7" name="מלבן 16">
            <a:extLst>
              <a:ext uri="{FF2B5EF4-FFF2-40B4-BE49-F238E27FC236}">
                <a16:creationId xmlns:a16="http://schemas.microsoft.com/office/drawing/2014/main" id="{21945264-B406-317D-82E3-8083F21B6372}"/>
              </a:ext>
            </a:extLst>
          </p:cNvPr>
          <p:cNvSpPr/>
          <p:nvPr/>
        </p:nvSpPr>
        <p:spPr>
          <a:xfrm>
            <a:off x="6673112" y="6429091"/>
            <a:ext cx="527328" cy="3695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…</a:t>
            </a:r>
            <a:endParaRPr lang="he-I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8" name="מחבר חץ ישר 28">
            <a:extLst>
              <a:ext uri="{FF2B5EF4-FFF2-40B4-BE49-F238E27FC236}">
                <a16:creationId xmlns:a16="http://schemas.microsoft.com/office/drawing/2014/main" id="{91C6F5BF-40F0-2950-BBE2-1CD57484D1DB}"/>
              </a:ext>
            </a:extLst>
          </p:cNvPr>
          <p:cNvCxnSpPr>
            <a:cxnSpLocks/>
            <a:stCxn id="278" idx="2"/>
            <a:endCxn id="337" idx="0"/>
          </p:cNvCxnSpPr>
          <p:nvPr/>
        </p:nvCxnSpPr>
        <p:spPr>
          <a:xfrm>
            <a:off x="2758492" y="5682862"/>
            <a:ext cx="4178284" cy="7462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1" name="מחבר חץ ישר 41">
            <a:extLst>
              <a:ext uri="{FF2B5EF4-FFF2-40B4-BE49-F238E27FC236}">
                <a16:creationId xmlns:a16="http://schemas.microsoft.com/office/drawing/2014/main" id="{B1FB6030-E41C-54EF-684D-93EE1A05243C}"/>
              </a:ext>
            </a:extLst>
          </p:cNvPr>
          <p:cNvCxnSpPr>
            <a:cxnSpLocks/>
            <a:stCxn id="12" idx="2"/>
            <a:endCxn id="354" idx="0"/>
          </p:cNvCxnSpPr>
          <p:nvPr/>
        </p:nvCxnSpPr>
        <p:spPr>
          <a:xfrm>
            <a:off x="7202962" y="2970552"/>
            <a:ext cx="723743" cy="15211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4" name="מלבן 19">
            <a:extLst>
              <a:ext uri="{FF2B5EF4-FFF2-40B4-BE49-F238E27FC236}">
                <a16:creationId xmlns:a16="http://schemas.microsoft.com/office/drawing/2014/main" id="{39DCCC33-2E75-B4A4-DDB1-0618FB0258BD}"/>
              </a:ext>
            </a:extLst>
          </p:cNvPr>
          <p:cNvSpPr/>
          <p:nvPr/>
        </p:nvSpPr>
        <p:spPr>
          <a:xfrm>
            <a:off x="7425341" y="4491678"/>
            <a:ext cx="1002727" cy="4987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/>
              <a:t>outputs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1" name="מלבן 19">
            <a:extLst>
              <a:ext uri="{FF2B5EF4-FFF2-40B4-BE49-F238E27FC236}">
                <a16:creationId xmlns:a16="http://schemas.microsoft.com/office/drawing/2014/main" id="{56199AF1-1727-01AB-BA6E-6AC4B7814A8D}"/>
              </a:ext>
            </a:extLst>
          </p:cNvPr>
          <p:cNvSpPr/>
          <p:nvPr/>
        </p:nvSpPr>
        <p:spPr>
          <a:xfrm>
            <a:off x="8236506" y="5125992"/>
            <a:ext cx="1002727" cy="3702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dirty="0" err="1"/>
              <a:t>xp</a:t>
            </a:r>
            <a:endParaRPr lang="he-IL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62" name="מחבר חץ ישר 36">
            <a:extLst>
              <a:ext uri="{FF2B5EF4-FFF2-40B4-BE49-F238E27FC236}">
                <a16:creationId xmlns:a16="http://schemas.microsoft.com/office/drawing/2014/main" id="{156E9A2A-7E78-0694-C224-CFAE5606BB51}"/>
              </a:ext>
            </a:extLst>
          </p:cNvPr>
          <p:cNvCxnSpPr>
            <a:cxnSpLocks/>
            <a:stCxn id="354" idx="2"/>
            <a:endCxn id="361" idx="0"/>
          </p:cNvCxnSpPr>
          <p:nvPr/>
        </p:nvCxnSpPr>
        <p:spPr>
          <a:xfrm>
            <a:off x="7926705" y="4990441"/>
            <a:ext cx="811165" cy="1355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6" name="מלבן 19">
            <a:extLst>
              <a:ext uri="{FF2B5EF4-FFF2-40B4-BE49-F238E27FC236}">
                <a16:creationId xmlns:a16="http://schemas.microsoft.com/office/drawing/2014/main" id="{1D3921CB-14F2-0517-A45B-A9A3230BD52A}"/>
              </a:ext>
            </a:extLst>
          </p:cNvPr>
          <p:cNvSpPr/>
          <p:nvPr/>
        </p:nvSpPr>
        <p:spPr>
          <a:xfrm>
            <a:off x="7162182" y="5671661"/>
            <a:ext cx="1609558" cy="5247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/>
              <a:t>Id_Experimental_number1</a:t>
            </a:r>
            <a:endParaRPr lang="he-IL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9" name="מלבן 19">
            <a:extLst>
              <a:ext uri="{FF2B5EF4-FFF2-40B4-BE49-F238E27FC236}">
                <a16:creationId xmlns:a16="http://schemas.microsoft.com/office/drawing/2014/main" id="{BE6DBAC1-C494-7292-DE75-A06B6D20FC62}"/>
              </a:ext>
            </a:extLst>
          </p:cNvPr>
          <p:cNvSpPr/>
          <p:nvPr/>
        </p:nvSpPr>
        <p:spPr>
          <a:xfrm>
            <a:off x="8940394" y="5671661"/>
            <a:ext cx="1608749" cy="5247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/>
              <a:t>Id_Experimental_number2</a:t>
            </a:r>
            <a:endParaRPr lang="he-IL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71" name="מחבר חץ ישר 36">
            <a:extLst>
              <a:ext uri="{FF2B5EF4-FFF2-40B4-BE49-F238E27FC236}">
                <a16:creationId xmlns:a16="http://schemas.microsoft.com/office/drawing/2014/main" id="{1908A24D-4036-5483-0DD0-C14C018EF229}"/>
              </a:ext>
            </a:extLst>
          </p:cNvPr>
          <p:cNvCxnSpPr>
            <a:cxnSpLocks/>
            <a:stCxn id="361" idx="2"/>
            <a:endCxn id="366" idx="0"/>
          </p:cNvCxnSpPr>
          <p:nvPr/>
        </p:nvCxnSpPr>
        <p:spPr>
          <a:xfrm flipH="1">
            <a:off x="7966961" y="5496270"/>
            <a:ext cx="770909" cy="1753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5" name="מחבר חץ ישר 36">
            <a:extLst>
              <a:ext uri="{FF2B5EF4-FFF2-40B4-BE49-F238E27FC236}">
                <a16:creationId xmlns:a16="http://schemas.microsoft.com/office/drawing/2014/main" id="{5E0F022A-E54E-6864-EE71-9C89CB188AC9}"/>
              </a:ext>
            </a:extLst>
          </p:cNvPr>
          <p:cNvCxnSpPr>
            <a:cxnSpLocks/>
            <a:stCxn id="361" idx="2"/>
            <a:endCxn id="369" idx="0"/>
          </p:cNvCxnSpPr>
          <p:nvPr/>
        </p:nvCxnSpPr>
        <p:spPr>
          <a:xfrm>
            <a:off x="8737870" y="5496270"/>
            <a:ext cx="1006899" cy="1753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0" name="מחבר חץ ישר 36">
            <a:extLst>
              <a:ext uri="{FF2B5EF4-FFF2-40B4-BE49-F238E27FC236}">
                <a16:creationId xmlns:a16="http://schemas.microsoft.com/office/drawing/2014/main" id="{FD04FF62-C372-0524-098E-9B16FDCCEFC3}"/>
              </a:ext>
            </a:extLst>
          </p:cNvPr>
          <p:cNvCxnSpPr>
            <a:cxnSpLocks/>
            <a:stCxn id="361" idx="2"/>
            <a:endCxn id="383" idx="0"/>
          </p:cNvCxnSpPr>
          <p:nvPr/>
        </p:nvCxnSpPr>
        <p:spPr>
          <a:xfrm>
            <a:off x="8737870" y="5496270"/>
            <a:ext cx="2541342" cy="2013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3" name="מלבן 16">
            <a:extLst>
              <a:ext uri="{FF2B5EF4-FFF2-40B4-BE49-F238E27FC236}">
                <a16:creationId xmlns:a16="http://schemas.microsoft.com/office/drawing/2014/main" id="{295B9A21-F0D7-FEB2-CF77-05C6219B6F65}"/>
              </a:ext>
            </a:extLst>
          </p:cNvPr>
          <p:cNvSpPr/>
          <p:nvPr/>
        </p:nvSpPr>
        <p:spPr>
          <a:xfrm>
            <a:off x="10863073" y="5697669"/>
            <a:ext cx="832278" cy="4987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…</a:t>
            </a:r>
            <a:endParaRPr lang="he-I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7" name="מחבר חץ ישר 36">
            <a:extLst>
              <a:ext uri="{FF2B5EF4-FFF2-40B4-BE49-F238E27FC236}">
                <a16:creationId xmlns:a16="http://schemas.microsoft.com/office/drawing/2014/main" id="{E2EC4639-7C31-C1F3-0CDF-54A203A7C06C}"/>
              </a:ext>
            </a:extLst>
          </p:cNvPr>
          <p:cNvCxnSpPr>
            <a:cxnSpLocks/>
            <a:stCxn id="369" idx="2"/>
            <a:endCxn id="393" idx="0"/>
          </p:cNvCxnSpPr>
          <p:nvPr/>
        </p:nvCxnSpPr>
        <p:spPr>
          <a:xfrm flipH="1">
            <a:off x="8236507" y="6196432"/>
            <a:ext cx="1508262" cy="2470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0" name="מחבר חץ ישר 36">
            <a:extLst>
              <a:ext uri="{FF2B5EF4-FFF2-40B4-BE49-F238E27FC236}">
                <a16:creationId xmlns:a16="http://schemas.microsoft.com/office/drawing/2014/main" id="{95B05A82-7987-AA1B-4F65-DBAA049CBFF7}"/>
              </a:ext>
            </a:extLst>
          </p:cNvPr>
          <p:cNvCxnSpPr>
            <a:cxnSpLocks/>
            <a:stCxn id="369" idx="2"/>
            <a:endCxn id="396" idx="0"/>
          </p:cNvCxnSpPr>
          <p:nvPr/>
        </p:nvCxnSpPr>
        <p:spPr>
          <a:xfrm>
            <a:off x="9744769" y="6196432"/>
            <a:ext cx="145275" cy="227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3" name="מלבן 19">
            <a:extLst>
              <a:ext uri="{FF2B5EF4-FFF2-40B4-BE49-F238E27FC236}">
                <a16:creationId xmlns:a16="http://schemas.microsoft.com/office/drawing/2014/main" id="{918A93EC-3459-BF7E-AC73-49DFAC86DBD5}"/>
              </a:ext>
            </a:extLst>
          </p:cNvPr>
          <p:cNvSpPr/>
          <p:nvPr/>
        </p:nvSpPr>
        <p:spPr>
          <a:xfrm>
            <a:off x="7452249" y="6443518"/>
            <a:ext cx="1568515" cy="2910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 err="1"/>
              <a:t>Training_results</a:t>
            </a:r>
            <a:endParaRPr lang="he-IL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6" name="מלבן 19">
            <a:extLst>
              <a:ext uri="{FF2B5EF4-FFF2-40B4-BE49-F238E27FC236}">
                <a16:creationId xmlns:a16="http://schemas.microsoft.com/office/drawing/2014/main" id="{16093D79-F4CF-D740-85F4-3F395E9382E7}"/>
              </a:ext>
            </a:extLst>
          </p:cNvPr>
          <p:cNvSpPr/>
          <p:nvPr/>
        </p:nvSpPr>
        <p:spPr>
          <a:xfrm>
            <a:off x="9105786" y="6423755"/>
            <a:ext cx="1568515" cy="3369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 err="1"/>
              <a:t>holdout_results</a:t>
            </a:r>
            <a:endParaRPr lang="he-IL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5" name="מלבן 16">
            <a:extLst>
              <a:ext uri="{FF2B5EF4-FFF2-40B4-BE49-F238E27FC236}">
                <a16:creationId xmlns:a16="http://schemas.microsoft.com/office/drawing/2014/main" id="{9E039DE4-D89C-3990-0171-3FC988B1489E}"/>
              </a:ext>
            </a:extLst>
          </p:cNvPr>
          <p:cNvSpPr/>
          <p:nvPr/>
        </p:nvSpPr>
        <p:spPr>
          <a:xfrm>
            <a:off x="10759323" y="6413382"/>
            <a:ext cx="1196318" cy="36512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 err="1">
                <a:ln w="0"/>
                <a:solidFill>
                  <a:schemeClr val="tx1"/>
                </a:solidFill>
              </a:rPr>
              <a:t>Classes.npz</a:t>
            </a:r>
            <a:endParaRPr lang="he-IL" sz="1600" dirty="0">
              <a:ln w="0"/>
              <a:solidFill>
                <a:schemeClr val="tx1"/>
              </a:solidFill>
            </a:endParaRPr>
          </a:p>
        </p:txBody>
      </p:sp>
      <p:cxnSp>
        <p:nvCxnSpPr>
          <p:cNvPr id="428" name="מחבר חץ ישר 36">
            <a:extLst>
              <a:ext uri="{FF2B5EF4-FFF2-40B4-BE49-F238E27FC236}">
                <a16:creationId xmlns:a16="http://schemas.microsoft.com/office/drawing/2014/main" id="{6AAA64E8-998D-FDD9-8EFF-A6CC62C9771E}"/>
              </a:ext>
            </a:extLst>
          </p:cNvPr>
          <p:cNvCxnSpPr>
            <a:cxnSpLocks/>
            <a:stCxn id="369" idx="2"/>
            <a:endCxn id="405" idx="0"/>
          </p:cNvCxnSpPr>
          <p:nvPr/>
        </p:nvCxnSpPr>
        <p:spPr>
          <a:xfrm>
            <a:off x="9744769" y="6196432"/>
            <a:ext cx="1612713" cy="2169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637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3A3CB-4708-D7CC-00CE-5C524B3CD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51CADD-0CC1-67A8-0144-A7234DDD0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194" y="159882"/>
            <a:ext cx="6702725" cy="575154"/>
          </a:xfrm>
        </p:spPr>
        <p:txBody>
          <a:bodyPr>
            <a:noAutofit/>
          </a:bodyPr>
          <a:lstStyle/>
          <a:p>
            <a:r>
              <a:rPr lang="he-IL" sz="4000" b="1" dirty="0">
                <a:cs typeface="Open Sans Hebrew" panose="00000500000000000000" pitchFamily="2" charset="-79"/>
              </a:rPr>
              <a:t>תוצאות ומסקנות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2E1C1E-358F-9933-B3C1-DCB7BDA80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11" y="1249062"/>
            <a:ext cx="4908625" cy="5107288"/>
          </a:xfrm>
        </p:spPr>
        <p:txBody>
          <a:bodyPr>
            <a:normAutofit lnSpcReduction="10000"/>
          </a:bodyPr>
          <a:lstStyle/>
          <a:p>
            <a:pPr marL="0" lvl="0" indent="0" algn="r" defTabSz="2519995" rt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he-IL" b="1" u="sng" dirty="0"/>
              <a:t>דיוק מרבי </a:t>
            </a:r>
            <a:r>
              <a:rPr lang="he-IL" b="1" u="sng" dirty="0" err="1"/>
              <a:t>בולידציה</a:t>
            </a:r>
            <a:br>
              <a:rPr lang="en-US" dirty="0"/>
            </a:br>
            <a:r>
              <a:rPr lang="he-IL" dirty="0"/>
              <a:t>לאחר תהליך מקיף של </a:t>
            </a:r>
            <a:r>
              <a:rPr lang="he-IL" dirty="0" err="1"/>
              <a:t>אופטימיזצית</a:t>
            </a:r>
            <a:r>
              <a:rPr lang="he-IL" dirty="0"/>
              <a:t> ההיפר-פרמטרים על ידי ניסוי וטעיה והרצות אימון חוזרות, המודל הגיע לדיוק מרבי על סט הוולידציה בגרף המוצג ולאחר 90 </a:t>
            </a:r>
            <a:r>
              <a:rPr lang="he-IL" dirty="0" err="1"/>
              <a:t>אפוקים</a:t>
            </a:r>
            <a:r>
              <a:rPr lang="he-IL" dirty="0"/>
              <a:t>.</a:t>
            </a:r>
          </a:p>
          <a:p>
            <a:pPr marL="0" indent="0" algn="r" defTabSz="2519995" rtl="1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he-IL" dirty="0"/>
              <a:t>העובדה שעקומות דיוק האימון והוולידציה הולכות יחד וכמעט זהות מעידה על יכולת הכללה טובה ואמינה של המודל</a:t>
            </a:r>
            <a:br>
              <a:rPr lang="he-IL" dirty="0"/>
            </a:br>
            <a:r>
              <a:rPr lang="he-IL" dirty="0"/>
              <a:t>ועל כך שהמודל אינו סובל מ-</a:t>
            </a:r>
            <a:r>
              <a:rPr lang="en-US" dirty="0"/>
              <a:t> Overfitting</a:t>
            </a:r>
            <a:r>
              <a:rPr lang="he-IL" dirty="0"/>
              <a:t>.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EC0B7-F847-4C24-D0C5-E97AFA178D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DC6099-4F5D-AB44-AF56-B7839FC6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47A4B-E8EE-2C3E-E572-C4ED209E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10</a:t>
            </a:fld>
            <a:endParaRPr lang="en-US"/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909B8F55-1F4F-7EA6-0517-6C750DF39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296" y="796163"/>
            <a:ext cx="7052704" cy="60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2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B5DBB-99D7-6DE9-D39A-006F9A6B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9ECABB-9939-D443-1476-571AB71F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066" y="393460"/>
            <a:ext cx="6702725" cy="575154"/>
          </a:xfrm>
        </p:spPr>
        <p:txBody>
          <a:bodyPr>
            <a:normAutofit fontScale="90000"/>
          </a:bodyPr>
          <a:lstStyle/>
          <a:p>
            <a:r>
              <a:rPr lang="he-IL" b="1" dirty="0">
                <a:cs typeface="Open Sans Hebrew" panose="00000500000000000000" pitchFamily="2" charset="-79"/>
              </a:rPr>
              <a:t>תוצאות ומסקנות</a:t>
            </a:r>
            <a:br>
              <a:rPr lang="en-US" b="1" u="sng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9DC8B8-908C-6ACF-8422-0EEA97481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069675"/>
            <a:ext cx="4527765" cy="5107288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b="1" dirty="0"/>
              <a:t>מטריצת שגיאות סיווג בין המחלקות</a:t>
            </a:r>
            <a:r>
              <a:rPr lang="he-IL" dirty="0"/>
              <a:t> </a:t>
            </a:r>
            <a:endParaRPr lang="he-IL" sz="2400" dirty="0"/>
          </a:p>
          <a:p>
            <a:pPr algn="r" rtl="1"/>
            <a:r>
              <a:rPr lang="he-IL" sz="2400" dirty="0"/>
              <a:t>מצביעה על מידת היכולת שלו להבחין בין המחלקות השונות.</a:t>
            </a:r>
          </a:p>
          <a:p>
            <a:pPr algn="r" rtl="1"/>
            <a:r>
              <a:rPr lang="he-IL" sz="2400" dirty="0"/>
              <a:t>היא מסייעת לנו להבין אילו מחלקות נוטות להתבלבל בסיווג זו עם זו,</a:t>
            </a:r>
            <a:br>
              <a:rPr lang="he-IL" sz="2400" dirty="0"/>
            </a:br>
            <a:r>
              <a:rPr lang="he-IL" sz="2400" dirty="0"/>
              <a:t>ומכוונת אותו איפה נדרש לבצע שיפורים בתכנון המודל.</a:t>
            </a:r>
          </a:p>
          <a:p>
            <a:pPr marL="0" indent="0">
              <a:buNone/>
            </a:pPr>
            <a:br>
              <a:rPr lang="en-US" dirty="0"/>
            </a:b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4084E-55C4-A4DA-AFB5-A9B51D5B45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240E5A6-822A-A736-879C-36B6E5533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E79B92-2C1E-67D3-8F28-A288615A9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11</a:t>
            </a:fld>
            <a:endParaRPr lang="en-US"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91911EA-B428-5022-5D00-B1417D3C1E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065" y="681037"/>
            <a:ext cx="7549935" cy="60404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88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ADBA-F49F-9C40-0FCD-D23B0DF9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84D998-0975-255F-851B-AFBB2EDC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252236"/>
            <a:ext cx="6702725" cy="575154"/>
          </a:xfrm>
        </p:spPr>
        <p:txBody>
          <a:bodyPr>
            <a:normAutofit fontScale="90000"/>
          </a:bodyPr>
          <a:lstStyle/>
          <a:p>
            <a:r>
              <a:rPr lang="he-IL" b="1" dirty="0">
                <a:cs typeface="+mn-cs"/>
              </a:rPr>
              <a:t>תוצאות ומסקנות</a:t>
            </a:r>
            <a:endParaRPr lang="en-US" dirty="0"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8C826F-46DC-9120-0DAC-DCE75FADD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627" y="907825"/>
            <a:ext cx="10515600" cy="816223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b="1" u="sng" dirty="0"/>
              <a:t>דיוק הוולידציה של ה-</a:t>
            </a:r>
            <a:r>
              <a:rPr lang="en-US" b="1" u="sng" dirty="0"/>
              <a:t> CNN </a:t>
            </a:r>
            <a:r>
              <a:rPr lang="he-IL" b="1" u="sng" dirty="0"/>
              <a:t>על פני מערכי נתונים עם ערכי</a:t>
            </a:r>
            <a:r>
              <a:rPr lang="en-US" b="1" u="sng" dirty="0"/>
              <a:t> SNR </a:t>
            </a:r>
            <a:r>
              <a:rPr lang="he-IL" b="1" u="sng" dirty="0"/>
              <a:t>קבועים</a:t>
            </a:r>
            <a:endParaRPr lang="en-US" b="1" u="sng" dirty="0"/>
          </a:p>
          <a:p>
            <a:pPr marL="0" indent="0">
              <a:buNone/>
            </a:pPr>
            <a:endParaRPr lang="en-US" dirty="0"/>
          </a:p>
          <a:p>
            <a:pPr algn="l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049AA1-DB08-924C-F7F6-0AB4F0D738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309FC9B-1D53-35BC-AF7B-F6F3D035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B0D91E-044A-1FB3-F6CA-486E67B2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12</a:t>
            </a:fld>
            <a:endParaRPr lang="en-US"/>
          </a:p>
        </p:txBody>
      </p:sp>
      <p:pic>
        <p:nvPicPr>
          <p:cNvPr id="2" name="תמונה 1" descr="תמונה שמכילה טקסט, צילום מסך, קו, תרשים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9B85A615-20B9-DD2B-51D9-07ECC37034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95" t="6532" r="9663" b="3541"/>
          <a:stretch/>
        </p:blipFill>
        <p:spPr>
          <a:xfrm>
            <a:off x="1730129" y="1474716"/>
            <a:ext cx="8750746" cy="4446540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63DDE29B-563B-D373-96AA-B287AB62CA27}"/>
              </a:ext>
            </a:extLst>
          </p:cNvPr>
          <p:cNvSpPr txBox="1"/>
          <p:nvPr/>
        </p:nvSpPr>
        <p:spPr>
          <a:xfrm>
            <a:off x="1266091" y="5890478"/>
            <a:ext cx="965981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en-US" sz="2400" dirty="0">
                <a:latin typeface="Arial" panose="020B0604020202020204" pitchFamily="34" charset="0"/>
              </a:rPr>
              <a:t>עקומת הדיוק ממחישה כי דיוק הסיווג של המודל עובר את רף ה־90% כאשר </a:t>
            </a:r>
          </a:p>
          <a:p>
            <a:pPr lvl="0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en-US" sz="2400" dirty="0">
                <a:latin typeface="Arial" panose="020B0604020202020204" pitchFamily="34" charset="0"/>
              </a:rPr>
              <a:t>ה</a:t>
            </a:r>
            <a:r>
              <a:rPr lang="en-US" altLang="en-US" sz="2400" dirty="0">
                <a:latin typeface="Arial" panose="020B0604020202020204" pitchFamily="34" charset="0"/>
              </a:rPr>
              <a:t>SNR-</a:t>
            </a:r>
            <a:r>
              <a:rPr lang="he-IL" altLang="en-US" sz="2400" dirty="0">
                <a:latin typeface="Arial" panose="020B0604020202020204" pitchFamily="34" charset="0"/>
              </a:rPr>
              <a:t> מגיע ל-</a:t>
            </a:r>
            <a:r>
              <a:rPr lang="en-US" altLang="en-US" sz="2400" dirty="0">
                <a:latin typeface="Arial" panose="020B0604020202020204" pitchFamily="34" charset="0"/>
              </a:rPr>
              <a:t> 15 dB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altLang="en-US" sz="2400" dirty="0">
                <a:latin typeface="Arial" panose="020B0604020202020204" pitchFamily="34" charset="0"/>
              </a:rPr>
              <a:t>ומטפס ל־97% ב</a:t>
            </a:r>
            <a:r>
              <a:rPr lang="en-US" altLang="en-US" sz="2400" dirty="0">
                <a:latin typeface="Arial" panose="020B0604020202020204" pitchFamily="34" charset="0"/>
              </a:rPr>
              <a:t> 24 dB- </a:t>
            </a:r>
            <a:r>
              <a:rPr lang="he-IL" altLang="en-US" sz="2400" dirty="0">
                <a:latin typeface="Arial" panose="020B0604020202020204" pitchFamily="34" charset="0"/>
              </a:rPr>
              <a:t>ומעלה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294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4C77-2B68-44BC-6A73-E0449F8E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24304B-7CA9-8591-33D6-4AE65FAD3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571" y="273545"/>
            <a:ext cx="6570203" cy="575154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 sz="36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Future Work – Proposed Direction</a:t>
            </a:r>
            <a:endParaRPr lang="en-IL" sz="36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3427F8-5810-6A83-C02E-702EF0D5E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675"/>
            <a:ext cx="10515600" cy="5107288"/>
          </a:xfrm>
        </p:spPr>
        <p:txBody>
          <a:bodyPr>
            <a:normAutofit/>
          </a:bodyPr>
          <a:lstStyle/>
          <a:p>
            <a:pPr algn="r" rtl="1">
              <a:lnSpc>
                <a:spcPct val="100000"/>
              </a:lnSpc>
              <a:spcAft>
                <a:spcPts val="100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Transfer learning</a:t>
            </a:r>
            <a:r>
              <a:rPr lang="he-IL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עם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Fine-Tuning </a:t>
            </a:r>
            <a:r>
              <a:rPr lang="he-IL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חלקי</a:t>
            </a:r>
            <a:endParaRPr lang="he-IL" sz="2400" dirty="0">
              <a:solidFill>
                <a:srgbClr val="000000"/>
              </a:solidFill>
              <a:latin typeface="-webkit-standard"/>
            </a:endParaRPr>
          </a:p>
          <a:p>
            <a:pPr marL="0" indent="0" algn="r" rtl="1">
              <a:lnSpc>
                <a:spcPct val="100000"/>
              </a:lnSpc>
              <a:spcAft>
                <a:spcPts val="1000"/>
              </a:spcAft>
              <a:buNone/>
            </a:pP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שילוב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Transfer Learning </a:t>
            </a: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במודל הקיים,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 Transfer Learning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היא שיטה שבה לוקחים מודל שכבר אומן על נתונים רבים, מקפיאים את רוב שכבותיו, ומעדכנים את השכבות העליונות כדי להתאימו למשימה חדשה </a:t>
            </a:r>
            <a:r>
              <a:rPr lang="he-IL" sz="2000" dirty="0">
                <a:solidFill>
                  <a:srgbClr val="000000"/>
                </a:solidFill>
                <a:latin typeface="-webkit-standard"/>
              </a:rPr>
              <a:t>. </a:t>
            </a: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עשוי לשפר עוד יותר את יעילות האימון ואת דיוק המודל וביצועיו  והיכולת להתמודד עם תנאים של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SNR </a:t>
            </a:r>
            <a:r>
              <a:rPr lang="he-IL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נמוך עוד יותר.</a:t>
            </a:r>
          </a:p>
          <a:p>
            <a:pPr algn="r" rtl="1">
              <a:lnSpc>
                <a:spcPct val="100000"/>
              </a:lnSpc>
              <a:spcAft>
                <a:spcPts val="1000"/>
              </a:spcAft>
            </a:pPr>
            <a:r>
              <a:rPr lang="he-IL" sz="2000" dirty="0">
                <a:solidFill>
                  <a:srgbClr val="000000"/>
                </a:solidFill>
                <a:latin typeface="-webkit-standard"/>
              </a:rPr>
              <a:t>בחינת המודל על מדידות חוץ ,מדידות בזוויות שונות </a:t>
            </a:r>
            <a:r>
              <a:rPr lang="he-IL" sz="2000" dirty="0" err="1">
                <a:solidFill>
                  <a:srgbClr val="000000"/>
                </a:solidFill>
                <a:latin typeface="-webkit-standard"/>
              </a:rPr>
              <a:t>וכו</a:t>
            </a:r>
            <a:r>
              <a:rPr lang="he-IL" sz="2000" dirty="0">
                <a:solidFill>
                  <a:srgbClr val="000000"/>
                </a:solidFill>
                <a:latin typeface="-webkit-standard"/>
              </a:rPr>
              <a:t>.</a:t>
            </a:r>
            <a:endParaRPr lang="he-IL" sz="20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0" lvl="0" indent="0" defTabSz="3359963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3600" b="1" dirty="0">
              <a:cs typeface="Open Sans Hebrew" panose="00000500000000000000" pitchFamily="2" charset="-79"/>
            </a:endParaRPr>
          </a:p>
          <a:p>
            <a:pPr marL="0" lvl="0" indent="0" defTabSz="3359963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3600" b="1" dirty="0">
              <a:cs typeface="Open Sans Hebrew" panose="00000500000000000000" pitchFamily="2" charset="-79"/>
            </a:endParaRPr>
          </a:p>
          <a:p>
            <a:pPr marL="0" lvl="0" indent="0" defTabSz="3359963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400" b="1" dirty="0">
                <a:cs typeface="Open Sans Hebrew" panose="00000500000000000000" pitchFamily="2" charset="-79"/>
              </a:rPr>
              <a:t>Bibliography</a:t>
            </a:r>
          </a:p>
          <a:p>
            <a:pPr marL="0" lvl="0" indent="0" defTabSz="3359963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000" dirty="0"/>
              <a:t>D. </a:t>
            </a:r>
            <a:r>
              <a:rPr lang="en-US" sz="2000" dirty="0" err="1"/>
              <a:t>Vovchuk</a:t>
            </a:r>
            <a:r>
              <a:rPr lang="en-US" sz="2000" dirty="0"/>
              <a:t>, M. </a:t>
            </a:r>
            <a:r>
              <a:rPr lang="en-US" sz="2000" dirty="0" err="1"/>
              <a:t>Khobzei</a:t>
            </a:r>
            <a:r>
              <a:rPr lang="en-US" sz="2000" dirty="0"/>
              <a:t>, V. Tkach, O. </a:t>
            </a:r>
            <a:r>
              <a:rPr lang="en-US" sz="2000" dirty="0" err="1"/>
              <a:t>Eliiashiv</a:t>
            </a:r>
            <a:r>
              <a:rPr lang="en-US" sz="2000" dirty="0"/>
              <a:t>, O. </a:t>
            </a:r>
            <a:r>
              <a:rPr lang="en-US" sz="2000" dirty="0" err="1"/>
              <a:t>Tzidki</a:t>
            </a:r>
            <a:r>
              <a:rPr lang="en-US" sz="2000" dirty="0"/>
              <a:t>, K. </a:t>
            </a:r>
            <a:r>
              <a:rPr lang="en-US" sz="2000" dirty="0" err="1"/>
              <a:t>Grotov</a:t>
            </a:r>
            <a:r>
              <a:rPr lang="en-US" sz="2000" dirty="0"/>
              <a:t>, A. Glam, and P. Ginzburg, </a:t>
            </a:r>
          </a:p>
          <a:p>
            <a:pPr marL="0" lvl="0" indent="0" defTabSz="3359963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000" dirty="0"/>
              <a:t>“Micro-Doppler-Coded Drone Identification,” </a:t>
            </a:r>
            <a:r>
              <a:rPr lang="en-US" sz="2000" i="1" dirty="0"/>
              <a:t>arXiv:2402.04368</a:t>
            </a:r>
            <a:r>
              <a:rPr lang="en-US" sz="2000" dirty="0"/>
              <a:t>, Feb. 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24936D-A692-A414-0AFD-C92433916D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01C805-863B-FBE2-1284-5A4365A23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7/13/2025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292BA-238A-920D-4173-8C29F62C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8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6593</TotalTime>
  <Words>718</Words>
  <Application>Microsoft Office PowerPoint</Application>
  <PresentationFormat>מסך רחב</PresentationFormat>
  <Paragraphs>153</Paragraphs>
  <Slides>13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Open Sans Hebrew</vt:lpstr>
      <vt:lpstr>Times New Roman</vt:lpstr>
      <vt:lpstr>-webkit-standard</vt:lpstr>
      <vt:lpstr>Office Theme</vt:lpstr>
      <vt:lpstr>מצגת של PowerPoint‏</vt:lpstr>
      <vt:lpstr>מוטיבציה – בעיית זיהוי רחפן</vt:lpstr>
      <vt:lpstr>מוטיבציה – בעיית זיהוי רחפן</vt:lpstr>
      <vt:lpstr>הפרוייקט: מסווג - לא רק מזהה אם רחפן</vt:lpstr>
      <vt:lpstr>מצגת של PowerPoint‏</vt:lpstr>
      <vt:lpstr>אופן מימוש המסווג - דטה סינטטי</vt:lpstr>
      <vt:lpstr>אופן מימוש המסווג – רשת הקונבולוציה</vt:lpstr>
      <vt:lpstr>Project Workflow</vt:lpstr>
      <vt:lpstr>Methods and Implementation</vt:lpstr>
      <vt:lpstr>תוצאות ומסקנות</vt:lpstr>
      <vt:lpstr>תוצאות ומסקנות </vt:lpstr>
      <vt:lpstr>תוצאות ומסקנות</vt:lpstr>
      <vt:lpstr>Future Work – Proposed Direction</vt:lpstr>
    </vt:vector>
  </TitlesOfParts>
  <Company>TAU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Fainguelernt</dc:creator>
  <cp:lastModifiedBy>עמית שטיין</cp:lastModifiedBy>
  <cp:revision>102</cp:revision>
  <dcterms:created xsi:type="dcterms:W3CDTF">2021-12-15T06:30:50Z</dcterms:created>
  <dcterms:modified xsi:type="dcterms:W3CDTF">2025-07-12T21:21:52Z</dcterms:modified>
</cp:coreProperties>
</file>